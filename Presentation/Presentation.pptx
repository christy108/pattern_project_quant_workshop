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3"/>
    <p:sldId id="257" r:id="rId4"/>
    <p:sldId id="260" r:id="rId5"/>
    <p:sldId id="261" r:id="rId6"/>
    <p:sldId id="265" r:id="rId7"/>
    <p:sldId id="263" r:id="rId8"/>
    <p:sldId id="268" r:id="rId10"/>
    <p:sldId id="271" r:id="rId11"/>
    <p:sldId id="274" r:id="rId12"/>
    <p:sldId id="272" r:id="rId13"/>
    <p:sldId id="270" r:id="rId14"/>
    <p:sldId id="279" r:id="rId15"/>
    <p:sldId id="276" r:id="rId16"/>
    <p:sldId id="278" r:id="rId17"/>
    <p:sldId id="280" r:id="rId18"/>
    <p:sldId id="283" r:id="rId19"/>
    <p:sldId id="277" r:id="rId20"/>
    <p:sldId id="266" r:id="rId21"/>
    <p:sldId id="281" r:id="rId22"/>
    <p:sldId id="282" r:id="rId23"/>
    <p:sldId id="286" r:id="rId24"/>
    <p:sldId id="288" r:id="rId25"/>
    <p:sldId id="289" r:id="rId26"/>
    <p:sldId id="290" r:id="rId27"/>
    <p:sldId id="295" r:id="rId28"/>
    <p:sldId id="297" r:id="rId29"/>
    <p:sldId id="299" r:id="rId30"/>
    <p:sldId id="298" r:id="rId31"/>
    <p:sldId id="292" r:id="rId32"/>
    <p:sldId id="301" r:id="rId33"/>
    <p:sldId id="310" r:id="rId34"/>
    <p:sldId id="302" r:id="rId35"/>
    <p:sldId id="303" r:id="rId36"/>
    <p:sldId id="304" r:id="rId37"/>
    <p:sldId id="305" r:id="rId38"/>
    <p:sldId id="307" r:id="rId39"/>
    <p:sldId id="306" r:id="rId40"/>
    <p:sldId id="308" r:id="rId41"/>
    <p:sldId id="296" r:id="rId42"/>
    <p:sldId id="300" r:id="rId43"/>
    <p:sldId id="309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197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7" Type="http://schemas.openxmlformats.org/officeDocument/2006/relationships/tableStyles" Target="tableStyles.xml"/><Relationship Id="rId46" Type="http://schemas.openxmlformats.org/officeDocument/2006/relationships/viewProps" Target="viewProps.xml"/><Relationship Id="rId45" Type="http://schemas.openxmlformats.org/officeDocument/2006/relationships/presProps" Target="presProps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GB" altLang="en-US"/>
              <a:t>We traded the SNP500 for the last 6 years using our model. It singificantly beats it in terms of Sharpe Ratio. Especcialy if we look at the in trade sharpe, 2.52. The Out_trade sharpe, calculating the sharpe including where the strategy is static (returns are 0) still gives a superior sharpe ratio.</a:t>
            </a:r>
            <a:endParaRPr lang="en-GB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GB" altLang="en-US">
                <a:sym typeface="+mn-ea"/>
              </a:rPr>
              <a:t>Now we can see the effect of switching a few parameters and see how they effect performance.</a:t>
            </a:r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GB" altLang="en-US"/>
              <a:t>  We apply a latency of 1 hour, and it seems to actually slightly increase performance. </a:t>
            </a:r>
            <a:r>
              <a:rPr lang="en-GB" altLang="en-US">
                <a:sym typeface="+mn-ea"/>
              </a:rPr>
              <a:t>We only have hour data in the last two years (After the blue line).</a:t>
            </a:r>
            <a:endParaRPr lang="en-GB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GB" altLang="en-US"/>
              <a:t>Lower lookback of 100 days instead of 300 lowers In-trade Sharpe, probs becasue of underfitting. (Not enough data to train the model)</a:t>
            </a:r>
            <a:endParaRPr lang="en-GB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GB" altLang="en-US">
                <a:sym typeface="+mn-ea"/>
              </a:rPr>
              <a:t>higher lookback of 600 days, also lowers (In-trade) Sharpe, probs becasue of Overfitting. (Too much data to train the model)</a:t>
            </a:r>
            <a:endParaRPr lang="en-GB" altLang="en-US"/>
          </a:p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GB" altLang="en-US"/>
              <a:t>If we dont weight recent data the model isnt adaptive to recent changing condidtions. Not weighting decreases sharpe. </a:t>
            </a:r>
            <a:endParaRPr lang="en-GB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GB" altLang="en-US" b="1">
                <a:sym typeface="+mn-ea"/>
              </a:rPr>
              <a:t>Using equal weights to Weight Sub-Pattern Averages slightly decreases sharpe</a:t>
            </a:r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GB" altLang="en-US" b="1">
                <a:sym typeface="+mn-ea"/>
              </a:rPr>
              <a:t>Static Threshold has Lower Sharpe, compared to a dynamic threshold.</a:t>
            </a:r>
            <a:endParaRPr lang="en-GB" altLang="en-US" b="1"/>
          </a:p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GB" altLang="en-US"/>
              <a:t>Decreasing Trade Threshold Percentile for the Dynamic Threshold from 90 to 75% decreases (In-Trade) Sharpe.</a:t>
            </a:r>
            <a:endParaRPr lang="en-GB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GB" altLang="en-US"/>
              <a:t>Adding The Volatility Betsizing to the model increases (In-Trade) sharpe to the highest weve seen yet 2.72!</a:t>
            </a:r>
            <a:endParaRPr lang="en-GB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1" Type="http://schemas.openxmlformats.org/officeDocument/2006/relationships/slideLayout" Target="../slideLayouts/slideLayout2.xml"/><Relationship Id="rId20" Type="http://schemas.openxmlformats.org/officeDocument/2006/relationships/tags" Target="../tags/tag26.xml"/><Relationship Id="rId2" Type="http://schemas.openxmlformats.org/officeDocument/2006/relationships/tags" Target="../tags/tag8.xml"/><Relationship Id="rId19" Type="http://schemas.openxmlformats.org/officeDocument/2006/relationships/tags" Target="../tags/tag25.xml"/><Relationship Id="rId18" Type="http://schemas.openxmlformats.org/officeDocument/2006/relationships/tags" Target="../tags/tag24.xml"/><Relationship Id="rId17" Type="http://schemas.openxmlformats.org/officeDocument/2006/relationships/tags" Target="../tags/tag23.xml"/><Relationship Id="rId16" Type="http://schemas.openxmlformats.org/officeDocument/2006/relationships/tags" Target="../tags/tag22.xml"/><Relationship Id="rId15" Type="http://schemas.openxmlformats.org/officeDocument/2006/relationships/tags" Target="../tags/tag21.xml"/><Relationship Id="rId14" Type="http://schemas.openxmlformats.org/officeDocument/2006/relationships/tags" Target="../tags/tag20.xml"/><Relationship Id="rId13" Type="http://schemas.openxmlformats.org/officeDocument/2006/relationships/tags" Target="../tags/tag19.xml"/><Relationship Id="rId12" Type="http://schemas.openxmlformats.org/officeDocument/2006/relationships/tags" Target="../tags/tag18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tags" Target="../tags/tag2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36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2.xml"/><Relationship Id="rId10" Type="http://schemas.openxmlformats.org/officeDocument/2006/relationships/tags" Target="../tags/tag37.xml"/><Relationship Id="rId1" Type="http://schemas.openxmlformats.org/officeDocument/2006/relationships/tags" Target="../tags/tag28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46.xml"/><Relationship Id="rId8" Type="http://schemas.openxmlformats.org/officeDocument/2006/relationships/tags" Target="../tags/tag45.xml"/><Relationship Id="rId7" Type="http://schemas.openxmlformats.org/officeDocument/2006/relationships/tags" Target="../tags/tag44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49.xml"/><Relationship Id="rId11" Type="http://schemas.openxmlformats.org/officeDocument/2006/relationships/tags" Target="../tags/tag48.xml"/><Relationship Id="rId10" Type="http://schemas.openxmlformats.org/officeDocument/2006/relationships/tags" Target="../tags/tag47.xml"/><Relationship Id="rId1" Type="http://schemas.openxmlformats.org/officeDocument/2006/relationships/tags" Target="../tags/tag38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8.xml"/><Relationship Id="rId8" Type="http://schemas.openxmlformats.org/officeDocument/2006/relationships/tags" Target="../tags/tag57.xml"/><Relationship Id="rId7" Type="http://schemas.openxmlformats.org/officeDocument/2006/relationships/tags" Target="../tags/tag56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4" Type="http://schemas.openxmlformats.org/officeDocument/2006/relationships/slideLayout" Target="../slideLayouts/slideLayout2.xml"/><Relationship Id="rId13" Type="http://schemas.openxmlformats.org/officeDocument/2006/relationships/tags" Target="../tags/tag62.xml"/><Relationship Id="rId12" Type="http://schemas.openxmlformats.org/officeDocument/2006/relationships/tags" Target="../tags/tag61.xml"/><Relationship Id="rId11" Type="http://schemas.openxmlformats.org/officeDocument/2006/relationships/tags" Target="../tags/tag60.xml"/><Relationship Id="rId10" Type="http://schemas.openxmlformats.org/officeDocument/2006/relationships/tags" Target="../tags/tag59.xml"/><Relationship Id="rId1" Type="http://schemas.openxmlformats.org/officeDocument/2006/relationships/tags" Target="../tags/tag5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tags" Target="../tags/tag6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6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altLang="en-US" dirty="0"/>
              <a:t>MCM Directional Strategies</a:t>
            </a:r>
            <a:endParaRPr lang="en-GB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altLang="en-US"/>
              <a:t>Presents...</a:t>
            </a:r>
            <a:endParaRPr lang="en-GB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8510" y="197485"/>
            <a:ext cx="10515600" cy="1325563"/>
          </a:xfrm>
        </p:spPr>
        <p:txBody>
          <a:bodyPr/>
          <a:p>
            <a:r>
              <a:rPr lang="en-GB" altLang="en-US">
                <a:sym typeface="+mn-ea"/>
              </a:rPr>
              <a:t>Predict Piano </a:t>
            </a:r>
            <a:r>
              <a:rPr lang="en-GB" altLang="en-US">
                <a:sym typeface="+mn-ea"/>
              </a:rPr>
              <a:t>Next Key</a:t>
            </a:r>
            <a:endParaRPr lang="en-GB" altLang="en-US"/>
          </a:p>
        </p:txBody>
      </p:sp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528320" y="1377315"/>
            <a:ext cx="5567680" cy="2430145"/>
          </a:xfrm>
          <a:prstGeom prst="rect">
            <a:avLst/>
          </a:prstGeom>
        </p:spPr>
      </p:pic>
      <p:sp>
        <p:nvSpPr>
          <p:cNvPr id="6" name="Down Arrow 5"/>
          <p:cNvSpPr/>
          <p:nvPr/>
        </p:nvSpPr>
        <p:spPr>
          <a:xfrm>
            <a:off x="3226435" y="3849370"/>
            <a:ext cx="485775" cy="979170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" name="Text Box 6"/>
          <p:cNvSpPr txBox="1"/>
          <p:nvPr/>
        </p:nvSpPr>
        <p:spPr>
          <a:xfrm>
            <a:off x="2035810" y="4828540"/>
            <a:ext cx="431927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3600" b="1"/>
              <a:t>010100101010</a:t>
            </a:r>
            <a:endParaRPr lang="en-GB" altLang="en-US" sz="3600" b="1"/>
          </a:p>
          <a:p>
            <a:endParaRPr lang="en-GB" altLang="en-US" sz="3600" b="1"/>
          </a:p>
          <a:p>
            <a:r>
              <a:rPr lang="en-GB" altLang="en-US" sz="2400"/>
              <a:t>1 = Black</a:t>
            </a:r>
            <a:endParaRPr lang="en-GB" altLang="en-US" sz="2400"/>
          </a:p>
          <a:p>
            <a:r>
              <a:rPr lang="en-GB" altLang="en-US" sz="2400"/>
              <a:t>0 = White</a:t>
            </a:r>
            <a:endParaRPr lang="en-GB" altLang="en-US" sz="2400"/>
          </a:p>
        </p:txBody>
      </p:sp>
      <p:grpSp>
        <p:nvGrpSpPr>
          <p:cNvPr id="14" name="Group 13"/>
          <p:cNvGrpSpPr/>
          <p:nvPr>
            <p:custDataLst>
              <p:tags r:id="rId2"/>
            </p:custDataLst>
          </p:nvPr>
        </p:nvGrpSpPr>
        <p:grpSpPr>
          <a:xfrm>
            <a:off x="7466965" y="1571625"/>
            <a:ext cx="2649220" cy="2158365"/>
            <a:chOff x="12061" y="3399"/>
            <a:chExt cx="4172" cy="3399"/>
          </a:xfrm>
        </p:grpSpPr>
        <p:cxnSp>
          <p:nvCxnSpPr>
            <p:cNvPr id="8" name="Straight Connector 7"/>
            <p:cNvCxnSpPr/>
            <p:nvPr>
              <p:custDataLst>
                <p:tags r:id="rId3"/>
              </p:custDataLst>
            </p:nvPr>
          </p:nvCxnSpPr>
          <p:spPr>
            <a:xfrm flipV="1">
              <a:off x="12467" y="3399"/>
              <a:ext cx="1610" cy="2327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>
              <p:custDataLst>
                <p:tags r:id="rId4"/>
              </p:custDataLst>
            </p:nvPr>
          </p:nvCxnSpPr>
          <p:spPr>
            <a:xfrm flipH="1" flipV="1">
              <a:off x="14086" y="3427"/>
              <a:ext cx="1762" cy="2355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0" name="Text Box 9"/>
            <p:cNvSpPr txBox="1"/>
            <p:nvPr>
              <p:custDataLst>
                <p:tags r:id="rId5"/>
              </p:custDataLst>
            </p:nvPr>
          </p:nvSpPr>
          <p:spPr>
            <a:xfrm>
              <a:off x="12061" y="5726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0</a:t>
              </a:r>
              <a:endParaRPr lang="en-GB" altLang="en-US" sz="2400"/>
            </a:p>
          </p:txBody>
        </p:sp>
        <p:sp>
          <p:nvSpPr>
            <p:cNvPr id="11" name="Text Box 10"/>
            <p:cNvSpPr txBox="1"/>
            <p:nvPr>
              <p:custDataLst>
                <p:tags r:id="rId6"/>
              </p:custDataLst>
            </p:nvPr>
          </p:nvSpPr>
          <p:spPr>
            <a:xfrm>
              <a:off x="15539" y="5782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1</a:t>
              </a:r>
              <a:endParaRPr lang="en-GB" altLang="en-US" sz="2400"/>
            </a:p>
          </p:txBody>
        </p:sp>
      </p:grpSp>
      <p:sp>
        <p:nvSpPr>
          <p:cNvPr id="12" name="Text Box 11"/>
          <p:cNvSpPr txBox="1"/>
          <p:nvPr>
            <p:custDataLst>
              <p:tags r:id="rId7"/>
            </p:custDataLst>
          </p:nvPr>
        </p:nvSpPr>
        <p:spPr>
          <a:xfrm>
            <a:off x="7318375" y="3550285"/>
            <a:ext cx="134874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7/12 (</a:t>
            </a:r>
            <a:r>
              <a:rPr lang="en-GB" altLang="en-US" sz="2400">
                <a:sym typeface="+mn-ea"/>
              </a:rPr>
              <a:t>58%)</a:t>
            </a:r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</p:txBody>
      </p:sp>
      <p:sp>
        <p:nvSpPr>
          <p:cNvPr id="13" name="Text Box 12"/>
          <p:cNvSpPr txBox="1"/>
          <p:nvPr>
            <p:custDataLst>
              <p:tags r:id="rId8"/>
            </p:custDataLst>
          </p:nvPr>
        </p:nvSpPr>
        <p:spPr>
          <a:xfrm>
            <a:off x="9516110" y="3590925"/>
            <a:ext cx="134874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5/12 (42</a:t>
            </a:r>
            <a:r>
              <a:rPr lang="en-GB" altLang="en-US" sz="2400">
                <a:sym typeface="+mn-ea"/>
              </a:rPr>
              <a:t>%)</a:t>
            </a:r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8510" y="161290"/>
            <a:ext cx="10515600" cy="1325563"/>
          </a:xfrm>
        </p:spPr>
        <p:txBody>
          <a:bodyPr/>
          <a:p>
            <a:r>
              <a:rPr lang="en-GB" altLang="en-US"/>
              <a:t>Predict Piano </a:t>
            </a:r>
            <a:r>
              <a:rPr lang="en-GB" altLang="en-US">
                <a:sym typeface="+mn-ea"/>
              </a:rPr>
              <a:t>Next Key</a:t>
            </a:r>
            <a:endParaRPr lang="en-GB" altLang="en-US"/>
          </a:p>
        </p:txBody>
      </p:sp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528320" y="1377315"/>
            <a:ext cx="5567680" cy="2430145"/>
          </a:xfrm>
          <a:prstGeom prst="rect">
            <a:avLst/>
          </a:prstGeom>
        </p:spPr>
      </p:pic>
      <p:sp>
        <p:nvSpPr>
          <p:cNvPr id="6" name="Down Arrow 5"/>
          <p:cNvSpPr/>
          <p:nvPr/>
        </p:nvSpPr>
        <p:spPr>
          <a:xfrm>
            <a:off x="3226435" y="3849370"/>
            <a:ext cx="485775" cy="979170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" name="Text Box 6"/>
          <p:cNvSpPr txBox="1"/>
          <p:nvPr/>
        </p:nvSpPr>
        <p:spPr>
          <a:xfrm>
            <a:off x="2035810" y="4828540"/>
            <a:ext cx="431927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3600" b="1"/>
              <a:t>010100101010</a:t>
            </a:r>
            <a:endParaRPr lang="en-GB" altLang="en-US" sz="3600" b="1"/>
          </a:p>
          <a:p>
            <a:endParaRPr lang="en-GB" altLang="en-US" sz="3600" b="1"/>
          </a:p>
          <a:p>
            <a:r>
              <a:rPr lang="en-GB" altLang="en-US" sz="2400"/>
              <a:t>1 = Black</a:t>
            </a:r>
            <a:endParaRPr lang="en-GB" altLang="en-US" sz="2400"/>
          </a:p>
          <a:p>
            <a:r>
              <a:rPr lang="en-GB" altLang="en-US" sz="2400"/>
              <a:t>0 = White</a:t>
            </a:r>
            <a:endParaRPr lang="en-GB" altLang="en-US" sz="2400"/>
          </a:p>
        </p:txBody>
      </p:sp>
      <p:grpSp>
        <p:nvGrpSpPr>
          <p:cNvPr id="14" name="Group 13"/>
          <p:cNvGrpSpPr/>
          <p:nvPr>
            <p:custDataLst>
              <p:tags r:id="rId2"/>
            </p:custDataLst>
          </p:nvPr>
        </p:nvGrpSpPr>
        <p:grpSpPr>
          <a:xfrm>
            <a:off x="7466965" y="1571625"/>
            <a:ext cx="2649220" cy="2158365"/>
            <a:chOff x="12061" y="3399"/>
            <a:chExt cx="4172" cy="3399"/>
          </a:xfrm>
        </p:grpSpPr>
        <p:cxnSp>
          <p:nvCxnSpPr>
            <p:cNvPr id="8" name="Straight Connector 7"/>
            <p:cNvCxnSpPr/>
            <p:nvPr>
              <p:custDataLst>
                <p:tags r:id="rId3"/>
              </p:custDataLst>
            </p:nvPr>
          </p:nvCxnSpPr>
          <p:spPr>
            <a:xfrm flipV="1">
              <a:off x="12467" y="3399"/>
              <a:ext cx="1610" cy="2327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>
              <p:custDataLst>
                <p:tags r:id="rId4"/>
              </p:custDataLst>
            </p:nvPr>
          </p:nvCxnSpPr>
          <p:spPr>
            <a:xfrm flipH="1" flipV="1">
              <a:off x="14086" y="3427"/>
              <a:ext cx="1762" cy="2355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0" name="Text Box 9"/>
            <p:cNvSpPr txBox="1"/>
            <p:nvPr>
              <p:custDataLst>
                <p:tags r:id="rId5"/>
              </p:custDataLst>
            </p:nvPr>
          </p:nvSpPr>
          <p:spPr>
            <a:xfrm>
              <a:off x="12061" y="5726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0</a:t>
              </a:r>
              <a:endParaRPr lang="en-GB" altLang="en-US" sz="2400"/>
            </a:p>
          </p:txBody>
        </p:sp>
        <p:sp>
          <p:nvSpPr>
            <p:cNvPr id="11" name="Text Box 10"/>
            <p:cNvSpPr txBox="1"/>
            <p:nvPr>
              <p:custDataLst>
                <p:tags r:id="rId6"/>
              </p:custDataLst>
            </p:nvPr>
          </p:nvSpPr>
          <p:spPr>
            <a:xfrm>
              <a:off x="15539" y="5782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1</a:t>
              </a:r>
              <a:endParaRPr lang="en-GB" altLang="en-US" sz="2400"/>
            </a:p>
          </p:txBody>
        </p:sp>
      </p:grpSp>
      <p:grpSp>
        <p:nvGrpSpPr>
          <p:cNvPr id="3" name="Group 2"/>
          <p:cNvGrpSpPr/>
          <p:nvPr>
            <p:custDataLst>
              <p:tags r:id="rId7"/>
            </p:custDataLst>
          </p:nvPr>
        </p:nvGrpSpPr>
        <p:grpSpPr>
          <a:xfrm>
            <a:off x="5985510" y="3718560"/>
            <a:ext cx="2649220" cy="2158365"/>
            <a:chOff x="12061" y="3399"/>
            <a:chExt cx="4172" cy="3399"/>
          </a:xfrm>
        </p:grpSpPr>
        <p:cxnSp>
          <p:nvCxnSpPr>
            <p:cNvPr id="5" name="Straight Connector 4"/>
            <p:cNvCxnSpPr/>
            <p:nvPr>
              <p:custDataLst>
                <p:tags r:id="rId8"/>
              </p:custDataLst>
            </p:nvPr>
          </p:nvCxnSpPr>
          <p:spPr>
            <a:xfrm flipV="1">
              <a:off x="12467" y="3399"/>
              <a:ext cx="1610" cy="2327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>
              <p:custDataLst>
                <p:tags r:id="rId9"/>
              </p:custDataLst>
            </p:nvPr>
          </p:nvCxnSpPr>
          <p:spPr>
            <a:xfrm flipH="1" flipV="1">
              <a:off x="14086" y="3427"/>
              <a:ext cx="1762" cy="2355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6" name="Text Box 15"/>
            <p:cNvSpPr txBox="1"/>
            <p:nvPr>
              <p:custDataLst>
                <p:tags r:id="rId10"/>
              </p:custDataLst>
            </p:nvPr>
          </p:nvSpPr>
          <p:spPr>
            <a:xfrm>
              <a:off x="12061" y="5726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0</a:t>
              </a:r>
              <a:endParaRPr lang="en-GB" altLang="en-US" sz="2400"/>
            </a:p>
          </p:txBody>
        </p:sp>
        <p:sp>
          <p:nvSpPr>
            <p:cNvPr id="17" name="Text Box 16"/>
            <p:cNvSpPr txBox="1"/>
            <p:nvPr>
              <p:custDataLst>
                <p:tags r:id="rId11"/>
              </p:custDataLst>
            </p:nvPr>
          </p:nvSpPr>
          <p:spPr>
            <a:xfrm>
              <a:off x="15539" y="5782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1</a:t>
              </a:r>
              <a:endParaRPr lang="en-GB" altLang="en-US" sz="2400"/>
            </a:p>
          </p:txBody>
        </p:sp>
      </p:grpSp>
      <p:grpSp>
        <p:nvGrpSpPr>
          <p:cNvPr id="18" name="Group 17"/>
          <p:cNvGrpSpPr/>
          <p:nvPr>
            <p:custDataLst>
              <p:tags r:id="rId12"/>
            </p:custDataLst>
          </p:nvPr>
        </p:nvGrpSpPr>
        <p:grpSpPr>
          <a:xfrm>
            <a:off x="9116695" y="3754120"/>
            <a:ext cx="2649220" cy="2158365"/>
            <a:chOff x="12061" y="3399"/>
            <a:chExt cx="4172" cy="3399"/>
          </a:xfrm>
        </p:grpSpPr>
        <p:cxnSp>
          <p:nvCxnSpPr>
            <p:cNvPr id="19" name="Straight Connector 18"/>
            <p:cNvCxnSpPr/>
            <p:nvPr>
              <p:custDataLst>
                <p:tags r:id="rId13"/>
              </p:custDataLst>
            </p:nvPr>
          </p:nvCxnSpPr>
          <p:spPr>
            <a:xfrm flipV="1">
              <a:off x="12467" y="3399"/>
              <a:ext cx="1610" cy="2327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>
              <p:custDataLst>
                <p:tags r:id="rId14"/>
              </p:custDataLst>
            </p:nvPr>
          </p:nvCxnSpPr>
          <p:spPr>
            <a:xfrm flipH="1" flipV="1">
              <a:off x="14086" y="3427"/>
              <a:ext cx="1762" cy="2355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1" name="Text Box 20"/>
            <p:cNvSpPr txBox="1"/>
            <p:nvPr>
              <p:custDataLst>
                <p:tags r:id="rId15"/>
              </p:custDataLst>
            </p:nvPr>
          </p:nvSpPr>
          <p:spPr>
            <a:xfrm>
              <a:off x="12061" y="5726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0</a:t>
              </a:r>
              <a:endParaRPr lang="en-GB" altLang="en-US" sz="2400"/>
            </a:p>
          </p:txBody>
        </p:sp>
        <p:sp>
          <p:nvSpPr>
            <p:cNvPr id="22" name="Text Box 21"/>
            <p:cNvSpPr txBox="1"/>
            <p:nvPr>
              <p:custDataLst>
                <p:tags r:id="rId16"/>
              </p:custDataLst>
            </p:nvPr>
          </p:nvSpPr>
          <p:spPr>
            <a:xfrm>
              <a:off x="15539" y="5782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1</a:t>
              </a:r>
              <a:endParaRPr lang="en-GB" altLang="en-US" sz="2400"/>
            </a:p>
          </p:txBody>
        </p:sp>
      </p:grpSp>
      <p:sp>
        <p:nvSpPr>
          <p:cNvPr id="23" name="Text Box 22"/>
          <p:cNvSpPr txBox="1"/>
          <p:nvPr>
            <p:custDataLst>
              <p:tags r:id="rId17"/>
            </p:custDataLst>
          </p:nvPr>
        </p:nvSpPr>
        <p:spPr>
          <a:xfrm>
            <a:off x="5819140" y="5691505"/>
            <a:ext cx="134874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1/7 (14</a:t>
            </a:r>
            <a:r>
              <a:rPr lang="en-GB" altLang="en-US" sz="2400">
                <a:sym typeface="+mn-ea"/>
              </a:rPr>
              <a:t>%)</a:t>
            </a:r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</p:txBody>
      </p:sp>
      <p:sp>
        <p:nvSpPr>
          <p:cNvPr id="24" name="Text Box 23"/>
          <p:cNvSpPr txBox="1"/>
          <p:nvPr>
            <p:custDataLst>
              <p:tags r:id="rId18"/>
            </p:custDataLst>
          </p:nvPr>
        </p:nvSpPr>
        <p:spPr>
          <a:xfrm>
            <a:off x="7973695" y="5763260"/>
            <a:ext cx="134874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6/7 (86</a:t>
            </a:r>
            <a:r>
              <a:rPr lang="en-GB" altLang="en-US" sz="2400">
                <a:sym typeface="+mn-ea"/>
              </a:rPr>
              <a:t>%)</a:t>
            </a:r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</p:txBody>
      </p:sp>
      <p:sp>
        <p:nvSpPr>
          <p:cNvPr id="25" name="Text Box 24"/>
          <p:cNvSpPr txBox="1"/>
          <p:nvPr>
            <p:custDataLst>
              <p:tags r:id="rId19"/>
            </p:custDataLst>
          </p:nvPr>
        </p:nvSpPr>
        <p:spPr>
          <a:xfrm>
            <a:off x="9034145" y="5763260"/>
            <a:ext cx="122682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5/5 (100</a:t>
            </a:r>
            <a:r>
              <a:rPr lang="en-GB" altLang="en-US" sz="2400">
                <a:sym typeface="+mn-ea"/>
              </a:rPr>
              <a:t>%)</a:t>
            </a:r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</p:txBody>
      </p:sp>
      <p:sp>
        <p:nvSpPr>
          <p:cNvPr id="26" name="Text Box 25"/>
          <p:cNvSpPr txBox="1"/>
          <p:nvPr>
            <p:custDataLst>
              <p:tags r:id="rId20"/>
            </p:custDataLst>
          </p:nvPr>
        </p:nvSpPr>
        <p:spPr>
          <a:xfrm>
            <a:off x="11245850" y="5763260"/>
            <a:ext cx="1226820" cy="8540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GB" altLang="en-US" sz="2400"/>
              <a:t>0/5 (0</a:t>
            </a:r>
            <a:r>
              <a:rPr lang="en-GB" altLang="en-US" sz="2400">
                <a:sym typeface="+mn-ea"/>
              </a:rPr>
              <a:t>%)</a:t>
            </a:r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  <a:p>
            <a:endParaRPr lang="en-GB" altLang="en-US" sz="2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Content Placeholder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b="7610"/>
          <a:stretch>
            <a:fillRect/>
          </a:stretch>
        </p:blipFill>
        <p:spPr>
          <a:xfrm>
            <a:off x="3622040" y="784860"/>
            <a:ext cx="8569960" cy="589724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" y="71755"/>
            <a:ext cx="10515600" cy="1325563"/>
          </a:xfrm>
        </p:spPr>
        <p:txBody>
          <a:bodyPr/>
          <a:p>
            <a:r>
              <a:rPr lang="en-GB" altLang="en-US"/>
              <a:t>Apply this to Stocks!</a:t>
            </a:r>
            <a:endParaRPr lang="en-GB" altLang="en-US"/>
          </a:p>
        </p:txBody>
      </p:sp>
      <p:sp>
        <p:nvSpPr>
          <p:cNvPr id="7" name="Text Box 6"/>
          <p:cNvSpPr txBox="1"/>
          <p:nvPr/>
        </p:nvSpPr>
        <p:spPr>
          <a:xfrm>
            <a:off x="403860" y="3013075"/>
            <a:ext cx="4064000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800"/>
              <a:t>Every Day:</a:t>
            </a:r>
            <a:endParaRPr lang="en-GB" altLang="en-US" sz="2800"/>
          </a:p>
          <a:p>
            <a:endParaRPr lang="en-GB" altLang="en-US" sz="2800"/>
          </a:p>
          <a:p>
            <a:r>
              <a:rPr lang="en-GB" altLang="en-US" sz="2800"/>
              <a:t>Stock Up = “1”</a:t>
            </a:r>
            <a:endParaRPr lang="en-GB" altLang="en-US" sz="2800"/>
          </a:p>
          <a:p>
            <a:endParaRPr lang="en-GB" altLang="en-US" sz="2800"/>
          </a:p>
          <a:p>
            <a:r>
              <a:rPr lang="en-GB" altLang="en-US" sz="2800"/>
              <a:t>Stock Down = “0”</a:t>
            </a:r>
            <a:endParaRPr lang="en-GB" altLang="en-US" sz="2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1432560" y="2642870"/>
            <a:ext cx="855980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1001010111110100001010111010101001001001010101010101010101010101001000000000011101011010110010101010000000000001111111111111111110101000000000000001010101111111111101001001010110100000101010010101010010101001010110101001010100101101010100101010......</a:t>
            </a:r>
            <a:endParaRPr lang="en-GB" altLang="en-US" sz="2400"/>
          </a:p>
        </p:txBody>
      </p:sp>
      <p:sp>
        <p:nvSpPr>
          <p:cNvPr id="5" name="Text Box 4"/>
          <p:cNvSpPr txBox="1"/>
          <p:nvPr/>
        </p:nvSpPr>
        <p:spPr>
          <a:xfrm>
            <a:off x="1490980" y="139636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We get...</a:t>
            </a:r>
            <a:endParaRPr lang="en-GB" altLang="en-US"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910"/>
            <a:ext cx="10515600" cy="1325563"/>
          </a:xfrm>
        </p:spPr>
        <p:txBody>
          <a:bodyPr/>
          <a:p>
            <a:r>
              <a:rPr lang="en-GB" altLang="en-US"/>
              <a:t>Dummy Case Prediction (Pattern Length 1)</a:t>
            </a:r>
            <a:endParaRPr lang="en-GB" altLang="en-US"/>
          </a:p>
        </p:txBody>
      </p:sp>
      <p:grpSp>
        <p:nvGrpSpPr>
          <p:cNvPr id="14" name="Group 13"/>
          <p:cNvGrpSpPr/>
          <p:nvPr>
            <p:custDataLst>
              <p:tags r:id="rId1"/>
            </p:custDataLst>
          </p:nvPr>
        </p:nvGrpSpPr>
        <p:grpSpPr>
          <a:xfrm>
            <a:off x="1757045" y="2313305"/>
            <a:ext cx="2649220" cy="2158365"/>
            <a:chOff x="12061" y="3399"/>
            <a:chExt cx="4172" cy="3399"/>
          </a:xfrm>
        </p:grpSpPr>
        <p:cxnSp>
          <p:nvCxnSpPr>
            <p:cNvPr id="8" name="Straight Connector 7"/>
            <p:cNvCxnSpPr/>
            <p:nvPr>
              <p:custDataLst>
                <p:tags r:id="rId2"/>
              </p:custDataLst>
            </p:nvPr>
          </p:nvCxnSpPr>
          <p:spPr>
            <a:xfrm flipV="1">
              <a:off x="12467" y="3399"/>
              <a:ext cx="1610" cy="2327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>
              <p:custDataLst>
                <p:tags r:id="rId3"/>
              </p:custDataLst>
            </p:nvPr>
          </p:nvCxnSpPr>
          <p:spPr>
            <a:xfrm flipH="1" flipV="1">
              <a:off x="14086" y="3427"/>
              <a:ext cx="1762" cy="2355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0" name="Text Box 9"/>
            <p:cNvSpPr txBox="1"/>
            <p:nvPr>
              <p:custDataLst>
                <p:tags r:id="rId4"/>
              </p:custDataLst>
            </p:nvPr>
          </p:nvSpPr>
          <p:spPr>
            <a:xfrm>
              <a:off x="12061" y="5726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0</a:t>
              </a:r>
              <a:endParaRPr lang="en-GB" altLang="en-US" sz="2400"/>
            </a:p>
          </p:txBody>
        </p:sp>
        <p:sp>
          <p:nvSpPr>
            <p:cNvPr id="11" name="Text Box 10"/>
            <p:cNvSpPr txBox="1"/>
            <p:nvPr>
              <p:custDataLst>
                <p:tags r:id="rId5"/>
              </p:custDataLst>
            </p:nvPr>
          </p:nvSpPr>
          <p:spPr>
            <a:xfrm>
              <a:off x="15539" y="5782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1</a:t>
              </a:r>
              <a:endParaRPr lang="en-GB" altLang="en-US" sz="2400"/>
            </a:p>
          </p:txBody>
        </p:sp>
      </p:grp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566545" y="4436110"/>
            <a:ext cx="1005205" cy="641985"/>
          </a:xfrm>
        </p:spPr>
        <p:txBody>
          <a:bodyPr/>
          <a:p>
            <a:pPr marL="0" indent="0">
              <a:buNone/>
            </a:pPr>
            <a:r>
              <a:rPr lang="en-GB" altLang="en-US" sz="2400"/>
              <a:t>42%</a:t>
            </a:r>
            <a:endParaRPr lang="en-GB" altLang="en-US" sz="2400"/>
          </a:p>
          <a:p>
            <a:pPr marL="0" indent="0">
              <a:buNone/>
            </a:pPr>
            <a:endParaRPr lang="en-GB" altLang="en-US" sz="2400"/>
          </a:p>
        </p:txBody>
      </p:sp>
      <p:sp>
        <p:nvSpPr>
          <p:cNvPr id="5" name="Content Placeholder 3"/>
          <p:cNvSpPr>
            <a:spLocks noGrp="1"/>
          </p:cNvSpPr>
          <p:nvPr/>
        </p:nvSpPr>
        <p:spPr>
          <a:xfrm>
            <a:off x="3844925" y="4436110"/>
            <a:ext cx="1005205" cy="6419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 sz="2400"/>
              <a:t>58%</a:t>
            </a:r>
            <a:endParaRPr lang="en-GB" altLang="en-US" sz="2400"/>
          </a:p>
          <a:p>
            <a:pPr marL="0" indent="0">
              <a:buNone/>
            </a:pPr>
            <a:endParaRPr lang="en-GB" altLang="en-US" sz="2400"/>
          </a:p>
        </p:txBody>
      </p:sp>
      <p:grpSp>
        <p:nvGrpSpPr>
          <p:cNvPr id="6" name="Group 5"/>
          <p:cNvGrpSpPr/>
          <p:nvPr>
            <p:custDataLst>
              <p:tags r:id="rId6"/>
            </p:custDataLst>
          </p:nvPr>
        </p:nvGrpSpPr>
        <p:grpSpPr>
          <a:xfrm>
            <a:off x="7528560" y="2354580"/>
            <a:ext cx="2649220" cy="2158365"/>
            <a:chOff x="12061" y="3399"/>
            <a:chExt cx="4172" cy="3399"/>
          </a:xfrm>
        </p:grpSpPr>
        <p:cxnSp>
          <p:nvCxnSpPr>
            <p:cNvPr id="7" name="Straight Connector 6"/>
            <p:cNvCxnSpPr/>
            <p:nvPr>
              <p:custDataLst>
                <p:tags r:id="rId7"/>
              </p:custDataLst>
            </p:nvPr>
          </p:nvCxnSpPr>
          <p:spPr>
            <a:xfrm flipV="1">
              <a:off x="12467" y="3399"/>
              <a:ext cx="1610" cy="2327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>
              <p:custDataLst>
                <p:tags r:id="rId8"/>
              </p:custDataLst>
            </p:nvPr>
          </p:nvCxnSpPr>
          <p:spPr>
            <a:xfrm flipH="1" flipV="1">
              <a:off x="14086" y="3427"/>
              <a:ext cx="1762" cy="2355"/>
            </a:xfrm>
            <a:prstGeom prst="line">
              <a:avLst/>
            </a:prstGeom>
            <a:ln w="31750" cap="rnd">
              <a:solidFill>
                <a:schemeClr val="accent1"/>
              </a:solidFill>
              <a:round/>
            </a:ln>
          </p:spPr>
          <p:style>
            <a:lnRef idx="0">
              <a:srgbClr val="FFFFFF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3" name="Text Box 12"/>
            <p:cNvSpPr txBox="1"/>
            <p:nvPr>
              <p:custDataLst>
                <p:tags r:id="rId9"/>
              </p:custDataLst>
            </p:nvPr>
          </p:nvSpPr>
          <p:spPr>
            <a:xfrm>
              <a:off x="12061" y="5726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0</a:t>
              </a:r>
              <a:endParaRPr lang="en-GB" altLang="en-US" sz="2400"/>
            </a:p>
          </p:txBody>
        </p:sp>
        <p:sp>
          <p:nvSpPr>
            <p:cNvPr id="15" name="Text Box 14"/>
            <p:cNvSpPr txBox="1"/>
            <p:nvPr>
              <p:custDataLst>
                <p:tags r:id="rId10"/>
              </p:custDataLst>
            </p:nvPr>
          </p:nvSpPr>
          <p:spPr>
            <a:xfrm>
              <a:off x="15539" y="5782"/>
              <a:ext cx="69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sz="3600" b="1"/>
                <a:t>1</a:t>
              </a:r>
              <a:endParaRPr lang="en-GB" altLang="en-US" sz="2400"/>
            </a:p>
          </p:txBody>
        </p:sp>
      </p:grpSp>
      <p:sp>
        <p:nvSpPr>
          <p:cNvPr id="16" name="Content Placeholder 3"/>
          <p:cNvSpPr>
            <a:spLocks noGrp="1"/>
          </p:cNvSpPr>
          <p:nvPr/>
        </p:nvSpPr>
        <p:spPr>
          <a:xfrm>
            <a:off x="7214235" y="4429125"/>
            <a:ext cx="1360805" cy="14204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 sz="2400"/>
              <a:t>-1.3%</a:t>
            </a:r>
            <a:endParaRPr lang="en-GB" altLang="en-US" sz="2400"/>
          </a:p>
          <a:p>
            <a:pPr marL="0" indent="0">
              <a:buNone/>
            </a:pPr>
            <a:r>
              <a:rPr lang="en-GB" altLang="en-US" sz="2400"/>
              <a:t> </a:t>
            </a:r>
            <a:endParaRPr lang="en-GB" altLang="en-US" sz="2400"/>
          </a:p>
          <a:p>
            <a:pPr marL="0" indent="0">
              <a:buNone/>
            </a:pPr>
            <a:endParaRPr lang="en-GB" altLang="en-US" sz="2400"/>
          </a:p>
        </p:txBody>
      </p:sp>
      <p:sp>
        <p:nvSpPr>
          <p:cNvPr id="17" name="Content Placeholder 3"/>
          <p:cNvSpPr>
            <a:spLocks noGrp="1"/>
          </p:cNvSpPr>
          <p:nvPr/>
        </p:nvSpPr>
        <p:spPr>
          <a:xfrm>
            <a:off x="9737090" y="4429125"/>
            <a:ext cx="1341755" cy="11068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 sz="2400"/>
              <a:t>1.1% </a:t>
            </a:r>
            <a:endParaRPr lang="en-GB" altLang="en-US" sz="2400"/>
          </a:p>
          <a:p>
            <a:pPr marL="0" indent="0">
              <a:buNone/>
            </a:pPr>
            <a:r>
              <a:rPr lang="en-GB" altLang="en-US" sz="2400"/>
              <a:t> </a:t>
            </a:r>
            <a:endParaRPr lang="en-GB" altLang="en-US" sz="2400"/>
          </a:p>
          <a:p>
            <a:pPr marL="0" indent="0">
              <a:buNone/>
            </a:pPr>
            <a:endParaRPr lang="en-GB" altLang="en-US" sz="2400"/>
          </a:p>
        </p:txBody>
      </p:sp>
      <p:sp>
        <p:nvSpPr>
          <p:cNvPr id="18" name="Content Placeholder 3"/>
          <p:cNvSpPr>
            <a:spLocks noGrp="1"/>
          </p:cNvSpPr>
          <p:nvPr/>
        </p:nvSpPr>
        <p:spPr>
          <a:xfrm>
            <a:off x="2237740" y="1528445"/>
            <a:ext cx="1607185" cy="6419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 sz="2400"/>
              <a:t>Probability</a:t>
            </a:r>
            <a:endParaRPr lang="en-GB" altLang="en-US" sz="2400"/>
          </a:p>
          <a:p>
            <a:pPr marL="0" indent="0">
              <a:buNone/>
            </a:pPr>
            <a:endParaRPr lang="en-GB" altLang="en-US" sz="2400"/>
          </a:p>
        </p:txBody>
      </p:sp>
      <p:sp>
        <p:nvSpPr>
          <p:cNvPr id="19" name="Content Placeholder 3"/>
          <p:cNvSpPr>
            <a:spLocks noGrp="1"/>
          </p:cNvSpPr>
          <p:nvPr/>
        </p:nvSpPr>
        <p:spPr>
          <a:xfrm>
            <a:off x="7374890" y="1539875"/>
            <a:ext cx="2802890" cy="6419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 sz="2400"/>
              <a:t>Average Stock Move</a:t>
            </a:r>
            <a:endParaRPr lang="en-GB" altLang="en-US" sz="2400"/>
          </a:p>
          <a:p>
            <a:pPr marL="0" indent="0">
              <a:buNone/>
            </a:pPr>
            <a:endParaRPr lang="en-GB" altLang="en-US" sz="2400"/>
          </a:p>
        </p:txBody>
      </p:sp>
      <p:sp>
        <p:nvSpPr>
          <p:cNvPr id="21" name="Content Placeholder 2"/>
          <p:cNvSpPr>
            <a:spLocks noGrp="1"/>
          </p:cNvSpPr>
          <p:nvPr/>
        </p:nvSpPr>
        <p:spPr>
          <a:xfrm>
            <a:off x="223520" y="5281295"/>
            <a:ext cx="11830050" cy="4806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 sz="2400"/>
              <a:t>E(Return) = Average Move Up * (Probability Up) + </a:t>
            </a:r>
            <a:r>
              <a:rPr lang="en-GB" altLang="en-US" sz="2400">
                <a:sym typeface="+mn-ea"/>
              </a:rPr>
              <a:t>Average Move Down * (Probability Down)</a:t>
            </a:r>
            <a:endParaRPr lang="en-GB" altLang="en-US" sz="2400"/>
          </a:p>
          <a:p>
            <a:endParaRPr lang="en-GB" altLang="en-US" sz="2400"/>
          </a:p>
        </p:txBody>
      </p:sp>
      <p:sp>
        <p:nvSpPr>
          <p:cNvPr id="22" name="Content Placeholder 2"/>
          <p:cNvSpPr>
            <a:spLocks noGrp="1"/>
          </p:cNvSpPr>
          <p:nvPr/>
        </p:nvSpPr>
        <p:spPr>
          <a:xfrm>
            <a:off x="1514475" y="5965190"/>
            <a:ext cx="11830050" cy="4806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 sz="2000"/>
              <a:t>= (0.9) * (0.58) + </a:t>
            </a:r>
            <a:r>
              <a:rPr lang="en-GB" altLang="en-US" sz="2000">
                <a:sym typeface="+mn-ea"/>
              </a:rPr>
              <a:t>(-1.3) * (0.42)</a:t>
            </a:r>
            <a:endParaRPr lang="en-GB" altLang="en-US" sz="2000"/>
          </a:p>
          <a:p>
            <a:endParaRPr lang="en-GB" altLang="en-US" sz="2000"/>
          </a:p>
        </p:txBody>
      </p:sp>
      <p:sp>
        <p:nvSpPr>
          <p:cNvPr id="24" name="Rounded Rectangle 23"/>
          <p:cNvSpPr/>
          <p:nvPr/>
        </p:nvSpPr>
        <p:spPr>
          <a:xfrm>
            <a:off x="285115" y="5210175"/>
            <a:ext cx="11443970" cy="622935"/>
          </a:xfrm>
          <a:prstGeom prst="round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3" name="Content Placeholder 2"/>
          <p:cNvSpPr>
            <a:spLocks noGrp="1"/>
          </p:cNvSpPr>
          <p:nvPr/>
        </p:nvSpPr>
        <p:spPr>
          <a:xfrm>
            <a:off x="1514475" y="6261100"/>
            <a:ext cx="11830050" cy="4806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 sz="2000"/>
              <a:t>= 0.092%</a:t>
            </a:r>
            <a:r>
              <a:rPr lang="en-GB" altLang="en-US" sz="2400"/>
              <a:t> </a:t>
            </a:r>
            <a:endParaRPr lang="en-GB" altLang="en-US" sz="2400"/>
          </a:p>
          <a:p>
            <a:endParaRPr lang="en-GB" altLang="en-US"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>
                <a:sym typeface="+mn-ea"/>
              </a:rPr>
              <a:t>More Pattern Lengths!</a:t>
            </a:r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rcRect l="12408"/>
          <a:stretch>
            <a:fillRect/>
          </a:stretch>
        </p:blipFill>
        <p:spPr>
          <a:xfrm>
            <a:off x="0" y="1923415"/>
            <a:ext cx="7889240" cy="4288790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7846695" y="19589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/>
              <a:t>Do the same for longer patterns..</a:t>
            </a:r>
            <a:endParaRPr lang="en-GB" altLang="en-US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00" y="3302000"/>
            <a:ext cx="4221480" cy="139001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580" y="5005070"/>
            <a:ext cx="4089400" cy="13938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75940" y="2995930"/>
            <a:ext cx="8104505" cy="556895"/>
          </a:xfrm>
        </p:spPr>
        <p:txBody>
          <a:bodyPr>
            <a:normAutofit/>
          </a:bodyPr>
          <a:p>
            <a:pPr marL="0" indent="0">
              <a:buNone/>
            </a:pPr>
            <a:r>
              <a:rPr lang="en-GB" altLang="en-US"/>
              <a:t>Predicted Return if 111010 = 0.86%</a:t>
            </a:r>
            <a:endParaRPr lang="en-GB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910"/>
            <a:ext cx="10515600" cy="1325563"/>
          </a:xfrm>
        </p:spPr>
        <p:txBody>
          <a:bodyPr>
            <a:normAutofit/>
          </a:bodyPr>
          <a:p>
            <a:r>
              <a:rPr lang="en-GB" altLang="en-US"/>
              <a:t>Longer Pattern Case Prediction </a:t>
            </a:r>
            <a:endParaRPr lang="en-GB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2960" y="2644775"/>
            <a:ext cx="10515600" cy="1325563"/>
          </a:xfrm>
        </p:spPr>
        <p:txBody>
          <a:bodyPr/>
          <a:p>
            <a:r>
              <a:rPr lang="en-GB" altLang="en-US"/>
              <a:t>We Can Also Weight Recent Data</a:t>
            </a:r>
            <a:endParaRPr lang="en-GB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1120140" y="86804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100101</a:t>
            </a:r>
            <a:r>
              <a:rPr lang="en-GB" altLang="en-US" sz="2400">
                <a:sym typeface="+mn-ea"/>
              </a:rPr>
              <a:t>011111010000101011101010...</a:t>
            </a:r>
            <a:endParaRPr lang="en-GB" altLang="en-US" sz="2400">
              <a:sym typeface="+mn-ea"/>
            </a:endParaRPr>
          </a:p>
        </p:txBody>
      </p:sp>
      <p:sp>
        <p:nvSpPr>
          <p:cNvPr id="5" name="Text Box 4"/>
          <p:cNvSpPr txBox="1"/>
          <p:nvPr>
            <p:custDataLst>
              <p:tags r:id="rId1"/>
            </p:custDataLst>
          </p:nvPr>
        </p:nvSpPr>
        <p:spPr>
          <a:xfrm>
            <a:off x="1209040" y="223583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olidFill>
                  <a:schemeClr val="tx1"/>
                </a:solidFill>
                <a:sym typeface="+mn-ea"/>
              </a:rPr>
              <a:t>1</a:t>
            </a:r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001010</a:t>
            </a:r>
            <a:r>
              <a:rPr lang="en-GB" altLang="en-US" sz="2400">
                <a:sym typeface="+mn-ea"/>
              </a:rPr>
              <a:t>11111010000101011101010...</a:t>
            </a:r>
            <a:endParaRPr lang="en-GB" altLang="en-US" sz="2400">
              <a:sym typeface="+mn-ea"/>
            </a:endParaRPr>
          </a:p>
        </p:txBody>
      </p:sp>
      <p:sp>
        <p:nvSpPr>
          <p:cNvPr id="6" name="Text Box 5"/>
          <p:cNvSpPr txBox="1"/>
          <p:nvPr>
            <p:custDataLst>
              <p:tags r:id="rId2"/>
            </p:custDataLst>
          </p:nvPr>
        </p:nvSpPr>
        <p:spPr>
          <a:xfrm>
            <a:off x="1288415" y="336359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olidFill>
                  <a:schemeClr val="tx1"/>
                </a:solidFill>
                <a:sym typeface="+mn-ea"/>
              </a:rPr>
              <a:t>10</a:t>
            </a:r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010101</a:t>
            </a:r>
            <a:r>
              <a:rPr lang="en-GB" altLang="en-US" sz="2400">
                <a:sym typeface="+mn-ea"/>
              </a:rPr>
              <a:t>1111010000101011101010...</a:t>
            </a:r>
            <a:endParaRPr lang="en-GB" altLang="en-US" sz="2400">
              <a:sym typeface="+mn-ea"/>
            </a:endParaRPr>
          </a:p>
        </p:txBody>
      </p:sp>
      <p:sp>
        <p:nvSpPr>
          <p:cNvPr id="7" name="Text Box 6"/>
          <p:cNvSpPr txBox="1"/>
          <p:nvPr>
            <p:custDataLst>
              <p:tags r:id="rId3"/>
            </p:custDataLst>
          </p:nvPr>
        </p:nvSpPr>
        <p:spPr>
          <a:xfrm>
            <a:off x="1288415" y="4613910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olidFill>
                  <a:schemeClr val="tx1"/>
                </a:solidFill>
                <a:sym typeface="+mn-ea"/>
              </a:rPr>
              <a:t>10</a:t>
            </a:r>
            <a:r>
              <a:rPr lang="en-GB" altLang="en-US" sz="2400">
                <a:solidFill>
                  <a:schemeClr val="tx1"/>
                </a:solidFill>
                <a:highlight>
                  <a:srgbClr val="000000">
                    <a:alpha val="0"/>
                  </a:srgbClr>
                </a:highlight>
                <a:sym typeface="+mn-ea"/>
              </a:rPr>
              <a:t>0</a:t>
            </a:r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101011</a:t>
            </a:r>
            <a:r>
              <a:rPr lang="en-GB" altLang="en-US" sz="2400">
                <a:sym typeface="+mn-ea"/>
              </a:rPr>
              <a:t>111010000101011101010...</a:t>
            </a:r>
            <a:endParaRPr lang="en-GB" altLang="en-US" sz="2400">
              <a:sym typeface="+mn-ea"/>
            </a:endParaRPr>
          </a:p>
        </p:txBody>
      </p:sp>
      <p:sp>
        <p:nvSpPr>
          <p:cNvPr id="8" name="Text Box 7"/>
          <p:cNvSpPr txBox="1"/>
          <p:nvPr>
            <p:custDataLst>
              <p:tags r:id="rId4"/>
            </p:custDataLst>
          </p:nvPr>
        </p:nvSpPr>
        <p:spPr>
          <a:xfrm>
            <a:off x="1377950" y="585914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olidFill>
                  <a:schemeClr val="tx1"/>
                </a:solidFill>
                <a:sym typeface="+mn-ea"/>
              </a:rPr>
              <a:t>10</a:t>
            </a:r>
            <a:r>
              <a:rPr lang="en-GB" altLang="en-US" sz="2400">
                <a:solidFill>
                  <a:schemeClr val="tx1"/>
                </a:solidFill>
                <a:highlight>
                  <a:srgbClr val="000000">
                    <a:alpha val="0"/>
                  </a:srgbClr>
                </a:highlight>
                <a:sym typeface="+mn-ea"/>
              </a:rPr>
              <a:t>01</a:t>
            </a:r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010111</a:t>
            </a:r>
            <a:r>
              <a:rPr lang="en-GB" altLang="en-US" sz="2400">
                <a:sym typeface="+mn-ea"/>
              </a:rPr>
              <a:t>11010000101011101010...</a:t>
            </a:r>
            <a:endParaRPr lang="en-GB" altLang="en-US" sz="2400">
              <a:sym typeface="+mn-ea"/>
            </a:endParaRPr>
          </a:p>
        </p:txBody>
      </p:sp>
      <p:cxnSp>
        <p:nvCxnSpPr>
          <p:cNvPr id="11" name="Straight Arrow Connector 10"/>
          <p:cNvCxnSpPr/>
          <p:nvPr>
            <p:custDataLst>
              <p:tags r:id="rId5"/>
            </p:custDataLst>
          </p:nvPr>
        </p:nvCxnSpPr>
        <p:spPr>
          <a:xfrm>
            <a:off x="3402330" y="1474470"/>
            <a:ext cx="40005" cy="615315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Curved Down Arrow 13"/>
          <p:cNvSpPr/>
          <p:nvPr/>
        </p:nvSpPr>
        <p:spPr>
          <a:xfrm>
            <a:off x="1377950" y="1931035"/>
            <a:ext cx="234315" cy="304800"/>
          </a:xfrm>
          <a:prstGeom prst="curved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Curved Down Arrow 14"/>
          <p:cNvSpPr/>
          <p:nvPr>
            <p:custDataLst>
              <p:tags r:id="rId6"/>
            </p:custDataLst>
          </p:nvPr>
        </p:nvSpPr>
        <p:spPr>
          <a:xfrm>
            <a:off x="1612265" y="3092450"/>
            <a:ext cx="234315" cy="304800"/>
          </a:xfrm>
          <a:prstGeom prst="curved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Curved Down Arrow 15"/>
          <p:cNvSpPr/>
          <p:nvPr>
            <p:custDataLst>
              <p:tags r:id="rId7"/>
            </p:custDataLst>
          </p:nvPr>
        </p:nvSpPr>
        <p:spPr>
          <a:xfrm>
            <a:off x="1739265" y="4309110"/>
            <a:ext cx="234315" cy="304800"/>
          </a:xfrm>
          <a:prstGeom prst="curved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Curved Down Arrow 16"/>
          <p:cNvSpPr/>
          <p:nvPr>
            <p:custDataLst>
              <p:tags r:id="rId8"/>
            </p:custDataLst>
          </p:nvPr>
        </p:nvSpPr>
        <p:spPr>
          <a:xfrm>
            <a:off x="2033905" y="5554345"/>
            <a:ext cx="234315" cy="304800"/>
          </a:xfrm>
          <a:prstGeom prst="curved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/>
          <p:nvPr>
            <p:custDataLst>
              <p:tags r:id="rId9"/>
            </p:custDataLst>
          </p:nvPr>
        </p:nvCxnSpPr>
        <p:spPr>
          <a:xfrm>
            <a:off x="3569335" y="2703830"/>
            <a:ext cx="40005" cy="615315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>
            <p:custDataLst>
              <p:tags r:id="rId10"/>
            </p:custDataLst>
          </p:nvPr>
        </p:nvCxnSpPr>
        <p:spPr>
          <a:xfrm>
            <a:off x="3696335" y="3911600"/>
            <a:ext cx="40005" cy="615315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Text Box 21"/>
          <p:cNvSpPr txBox="1"/>
          <p:nvPr>
            <p:custDataLst>
              <p:tags r:id="rId11"/>
            </p:custDataLst>
          </p:nvPr>
        </p:nvSpPr>
        <p:spPr>
          <a:xfrm>
            <a:off x="7722235" y="3092450"/>
            <a:ext cx="406400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800"/>
              <a:t>Assuming we want to use pattern length 6...</a:t>
            </a:r>
            <a:endParaRPr lang="en-GB" altLang="en-US" sz="2800"/>
          </a:p>
        </p:txBody>
      </p:sp>
      <p:cxnSp>
        <p:nvCxnSpPr>
          <p:cNvPr id="23" name="Straight Arrow Connector 22"/>
          <p:cNvCxnSpPr/>
          <p:nvPr>
            <p:custDataLst>
              <p:tags r:id="rId12"/>
            </p:custDataLst>
          </p:nvPr>
        </p:nvCxnSpPr>
        <p:spPr>
          <a:xfrm>
            <a:off x="3823335" y="5243830"/>
            <a:ext cx="40005" cy="615315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1120140" y="86804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100101</a:t>
            </a:r>
            <a:r>
              <a:rPr lang="en-GB" altLang="en-US" sz="2400">
                <a:sym typeface="+mn-ea"/>
              </a:rPr>
              <a:t>011111010000101011101010...</a:t>
            </a:r>
            <a:endParaRPr lang="en-GB" altLang="en-US" sz="2400">
              <a:sym typeface="+mn-ea"/>
            </a:endParaRPr>
          </a:p>
        </p:txBody>
      </p:sp>
      <p:sp>
        <p:nvSpPr>
          <p:cNvPr id="5" name="Text Box 4"/>
          <p:cNvSpPr txBox="1"/>
          <p:nvPr>
            <p:custDataLst>
              <p:tags r:id="rId1"/>
            </p:custDataLst>
          </p:nvPr>
        </p:nvSpPr>
        <p:spPr>
          <a:xfrm>
            <a:off x="1209040" y="223583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olidFill>
                  <a:schemeClr val="tx1"/>
                </a:solidFill>
                <a:sym typeface="+mn-ea"/>
              </a:rPr>
              <a:t>1</a:t>
            </a:r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001010</a:t>
            </a:r>
            <a:r>
              <a:rPr lang="en-GB" altLang="en-US" sz="2400">
                <a:sym typeface="+mn-ea"/>
              </a:rPr>
              <a:t>11111010000101011101010...</a:t>
            </a:r>
            <a:endParaRPr lang="en-GB" altLang="en-US" sz="2400">
              <a:sym typeface="+mn-ea"/>
            </a:endParaRPr>
          </a:p>
        </p:txBody>
      </p:sp>
      <p:sp>
        <p:nvSpPr>
          <p:cNvPr id="6" name="Text Box 5"/>
          <p:cNvSpPr txBox="1"/>
          <p:nvPr>
            <p:custDataLst>
              <p:tags r:id="rId2"/>
            </p:custDataLst>
          </p:nvPr>
        </p:nvSpPr>
        <p:spPr>
          <a:xfrm>
            <a:off x="1288415" y="336359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olidFill>
                  <a:schemeClr val="tx1"/>
                </a:solidFill>
                <a:sym typeface="+mn-ea"/>
              </a:rPr>
              <a:t>10</a:t>
            </a:r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010101</a:t>
            </a:r>
            <a:r>
              <a:rPr lang="en-GB" altLang="en-US" sz="2400">
                <a:sym typeface="+mn-ea"/>
              </a:rPr>
              <a:t>1111010000101011101010...</a:t>
            </a:r>
            <a:endParaRPr lang="en-GB" altLang="en-US" sz="2400">
              <a:sym typeface="+mn-ea"/>
            </a:endParaRPr>
          </a:p>
        </p:txBody>
      </p:sp>
      <p:sp>
        <p:nvSpPr>
          <p:cNvPr id="7" name="Text Box 6"/>
          <p:cNvSpPr txBox="1"/>
          <p:nvPr>
            <p:custDataLst>
              <p:tags r:id="rId3"/>
            </p:custDataLst>
          </p:nvPr>
        </p:nvSpPr>
        <p:spPr>
          <a:xfrm>
            <a:off x="1288415" y="4613910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olidFill>
                  <a:schemeClr val="tx1"/>
                </a:solidFill>
                <a:sym typeface="+mn-ea"/>
              </a:rPr>
              <a:t>10</a:t>
            </a:r>
            <a:r>
              <a:rPr lang="en-GB" altLang="en-US" sz="2400">
                <a:solidFill>
                  <a:schemeClr val="tx1"/>
                </a:solidFill>
                <a:highlight>
                  <a:srgbClr val="000000">
                    <a:alpha val="0"/>
                  </a:srgbClr>
                </a:highlight>
                <a:sym typeface="+mn-ea"/>
              </a:rPr>
              <a:t>0</a:t>
            </a:r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101011</a:t>
            </a:r>
            <a:r>
              <a:rPr lang="en-GB" altLang="en-US" sz="2400">
                <a:sym typeface="+mn-ea"/>
              </a:rPr>
              <a:t>111010000101011101010...</a:t>
            </a:r>
            <a:endParaRPr lang="en-GB" altLang="en-US" sz="2400">
              <a:sym typeface="+mn-ea"/>
            </a:endParaRPr>
          </a:p>
        </p:txBody>
      </p:sp>
      <p:sp>
        <p:nvSpPr>
          <p:cNvPr id="8" name="Text Box 7"/>
          <p:cNvSpPr txBox="1"/>
          <p:nvPr>
            <p:custDataLst>
              <p:tags r:id="rId4"/>
            </p:custDataLst>
          </p:nvPr>
        </p:nvSpPr>
        <p:spPr>
          <a:xfrm>
            <a:off x="1377950" y="585914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olidFill>
                  <a:schemeClr val="tx1"/>
                </a:solidFill>
                <a:sym typeface="+mn-ea"/>
              </a:rPr>
              <a:t>10</a:t>
            </a:r>
            <a:r>
              <a:rPr lang="en-GB" altLang="en-US" sz="2400">
                <a:solidFill>
                  <a:schemeClr val="tx1"/>
                </a:solidFill>
                <a:highlight>
                  <a:srgbClr val="000000">
                    <a:alpha val="0"/>
                  </a:srgbClr>
                </a:highlight>
                <a:sym typeface="+mn-ea"/>
              </a:rPr>
              <a:t>01</a:t>
            </a:r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010111</a:t>
            </a:r>
            <a:r>
              <a:rPr lang="en-GB" altLang="en-US" sz="2400">
                <a:sym typeface="+mn-ea"/>
              </a:rPr>
              <a:t>11010000101011101010...</a:t>
            </a:r>
            <a:endParaRPr lang="en-GB" altLang="en-US" sz="2400">
              <a:sym typeface="+mn-ea"/>
            </a:endParaRPr>
          </a:p>
        </p:txBody>
      </p:sp>
      <p:cxnSp>
        <p:nvCxnSpPr>
          <p:cNvPr id="11" name="Straight Arrow Connector 10"/>
          <p:cNvCxnSpPr/>
          <p:nvPr>
            <p:custDataLst>
              <p:tags r:id="rId5"/>
            </p:custDataLst>
          </p:nvPr>
        </p:nvCxnSpPr>
        <p:spPr>
          <a:xfrm>
            <a:off x="3402330" y="1474470"/>
            <a:ext cx="40005" cy="615315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Curved Down Arrow 13"/>
          <p:cNvSpPr/>
          <p:nvPr/>
        </p:nvSpPr>
        <p:spPr>
          <a:xfrm>
            <a:off x="1377950" y="1931035"/>
            <a:ext cx="234315" cy="304800"/>
          </a:xfrm>
          <a:prstGeom prst="curved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Curved Down Arrow 14"/>
          <p:cNvSpPr/>
          <p:nvPr>
            <p:custDataLst>
              <p:tags r:id="rId6"/>
            </p:custDataLst>
          </p:nvPr>
        </p:nvSpPr>
        <p:spPr>
          <a:xfrm>
            <a:off x="1612265" y="3092450"/>
            <a:ext cx="234315" cy="304800"/>
          </a:xfrm>
          <a:prstGeom prst="curved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Curved Down Arrow 15"/>
          <p:cNvSpPr/>
          <p:nvPr>
            <p:custDataLst>
              <p:tags r:id="rId7"/>
            </p:custDataLst>
          </p:nvPr>
        </p:nvSpPr>
        <p:spPr>
          <a:xfrm>
            <a:off x="1739265" y="4309110"/>
            <a:ext cx="234315" cy="304800"/>
          </a:xfrm>
          <a:prstGeom prst="curved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Curved Down Arrow 16"/>
          <p:cNvSpPr/>
          <p:nvPr>
            <p:custDataLst>
              <p:tags r:id="rId8"/>
            </p:custDataLst>
          </p:nvPr>
        </p:nvSpPr>
        <p:spPr>
          <a:xfrm>
            <a:off x="2033905" y="5554345"/>
            <a:ext cx="234315" cy="304800"/>
          </a:xfrm>
          <a:prstGeom prst="curved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/>
          <p:nvPr>
            <p:custDataLst>
              <p:tags r:id="rId9"/>
            </p:custDataLst>
          </p:nvPr>
        </p:nvCxnSpPr>
        <p:spPr>
          <a:xfrm>
            <a:off x="3569335" y="2703830"/>
            <a:ext cx="40005" cy="615315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>
            <p:custDataLst>
              <p:tags r:id="rId10"/>
            </p:custDataLst>
          </p:nvPr>
        </p:nvCxnSpPr>
        <p:spPr>
          <a:xfrm>
            <a:off x="3696335" y="3911600"/>
            <a:ext cx="40005" cy="615315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Text Box 21"/>
          <p:cNvSpPr txBox="1"/>
          <p:nvPr>
            <p:custDataLst>
              <p:tags r:id="rId11"/>
            </p:custDataLst>
          </p:nvPr>
        </p:nvSpPr>
        <p:spPr>
          <a:xfrm>
            <a:off x="7813040" y="3020060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800"/>
              <a:t>Weight Recent Data Vector</a:t>
            </a:r>
            <a:endParaRPr lang="en-GB" altLang="en-US" sz="2800"/>
          </a:p>
        </p:txBody>
      </p:sp>
      <p:cxnSp>
        <p:nvCxnSpPr>
          <p:cNvPr id="23" name="Straight Arrow Connector 22"/>
          <p:cNvCxnSpPr/>
          <p:nvPr>
            <p:custDataLst>
              <p:tags r:id="rId12"/>
            </p:custDataLst>
          </p:nvPr>
        </p:nvCxnSpPr>
        <p:spPr>
          <a:xfrm>
            <a:off x="3823335" y="5243830"/>
            <a:ext cx="40005" cy="615315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" name="Text Box 1"/>
          <p:cNvSpPr txBox="1"/>
          <p:nvPr/>
        </p:nvSpPr>
        <p:spPr>
          <a:xfrm>
            <a:off x="1120140" y="342900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ym typeface="+mn-ea"/>
              </a:rPr>
              <a:t>[11111111111222222222233333333...]</a:t>
            </a:r>
            <a:endParaRPr lang="en-GB" altLang="en-US" sz="2400">
              <a:sym typeface="+mn-ea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120775" y="261620"/>
            <a:ext cx="5088890" cy="622935"/>
          </a:xfrm>
          <a:prstGeom prst="round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3" name="Straight Arrow Connector 2"/>
          <p:cNvCxnSpPr/>
          <p:nvPr>
            <p:custDataLst>
              <p:tags r:id="rId13"/>
            </p:custDataLst>
          </p:nvPr>
        </p:nvCxnSpPr>
        <p:spPr>
          <a:xfrm flipH="1" flipV="1">
            <a:off x="6299835" y="818515"/>
            <a:ext cx="2322195" cy="211709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Content Placeholder 2"/>
          <p:cNvSpPr>
            <a:spLocks noGrp="1"/>
          </p:cNvSpPr>
          <p:nvPr/>
        </p:nvSpPr>
        <p:spPr>
          <a:xfrm>
            <a:off x="3275330" y="2995930"/>
            <a:ext cx="8104505" cy="5568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/>
              <a:t>Predicted Return if 111010 = 0.96%</a:t>
            </a:r>
            <a:endParaRPr lang="en-GB" altLang="en-US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Less Overfitted/Better Predictions</a:t>
            </a:r>
            <a:endParaRPr lang="en-GB" altLang="en-US"/>
          </a:p>
        </p:txBody>
      </p:sp>
      <p:sp>
        <p:nvSpPr>
          <p:cNvPr id="2" name="Content Placeholder 2"/>
          <p:cNvSpPr>
            <a:spLocks noGrp="1"/>
          </p:cNvSpPr>
          <p:nvPr/>
        </p:nvSpPr>
        <p:spPr>
          <a:xfrm>
            <a:off x="3653790" y="4685030"/>
            <a:ext cx="8104505" cy="5568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>
                <a:solidFill>
                  <a:srgbClr val="FF0000"/>
                </a:solidFill>
              </a:rPr>
              <a:t>More adaptive to new data</a:t>
            </a:r>
            <a:endParaRPr lang="en-GB" altLang="en-US">
              <a:solidFill>
                <a:srgbClr val="FF0000"/>
              </a:solidFill>
            </a:endParaRPr>
          </a:p>
        </p:txBody>
      </p:sp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7722870" y="4331970"/>
            <a:ext cx="1141095" cy="9099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Patterns within Patterns</a:t>
            </a:r>
            <a:endParaRPr lang="en-GB" altLang="en-US"/>
          </a:p>
        </p:txBody>
      </p:sp>
      <p:sp>
        <p:nvSpPr>
          <p:cNvPr id="5" name="Text Box 4"/>
          <p:cNvSpPr txBox="1"/>
          <p:nvPr>
            <p:custDataLst>
              <p:tags r:id="rId1"/>
            </p:custDataLst>
          </p:nvPr>
        </p:nvSpPr>
        <p:spPr>
          <a:xfrm>
            <a:off x="2780030" y="2253615"/>
            <a:ext cx="7740650" cy="32905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GB" altLang="en-US" sz="2400">
                <a:sym typeface="+mn-ea"/>
              </a:rPr>
              <a:t>  1101011 :     4%  &lt;-------Predicted Return 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101011 :    -1% 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  01011 :  0.2% 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    1011 : -0.6%  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      011 :   </a:t>
            </a:r>
            <a:r>
              <a:rPr lang="en-GB" altLang="en-US" sz="2400">
                <a:sym typeface="+mn-ea"/>
              </a:rPr>
              <a:t>0.3%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        11 :   </a:t>
            </a:r>
            <a:r>
              <a:rPr lang="en-GB" altLang="en-US" sz="2400">
                <a:sym typeface="+mn-ea"/>
              </a:rPr>
              <a:t>0.5% </a:t>
            </a:r>
            <a:endParaRPr lang="en-GB" altLang="en-US" sz="2400">
              <a:sym typeface="+mn-ea"/>
            </a:endParaRPr>
          </a:p>
          <a:p>
            <a:pPr marL="457200" lvl="1" indent="457200"/>
            <a:r>
              <a:rPr lang="en-GB" altLang="en-US" sz="2400">
                <a:sym typeface="+mn-ea"/>
              </a:rPr>
              <a:t> 1 :   </a:t>
            </a:r>
            <a:r>
              <a:rPr lang="en-GB" altLang="en-US" sz="2400">
                <a:sym typeface="+mn-ea"/>
              </a:rPr>
              <a:t>0.1% </a:t>
            </a:r>
            <a:endParaRPr lang="en-GB" altLang="en-US" sz="2400">
              <a:sym typeface="+mn-ea"/>
            </a:endParaRPr>
          </a:p>
          <a:p>
            <a:endParaRPr lang="en-GB" altLang="en-US" sz="2400">
              <a:sym typeface="+mn-ea"/>
            </a:endParaRPr>
          </a:p>
          <a:p>
            <a:endParaRPr lang="en-GB" altLang="en-US" sz="2400">
              <a:sym typeface="+mn-ea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2820670" y="5362575"/>
            <a:ext cx="871664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ym typeface="+mn-ea"/>
              </a:rPr>
              <a:t>11101011 : 0.5%    Predicted Return </a:t>
            </a:r>
            <a:r>
              <a:rPr lang="en-GB" altLang="en-US" sz="2400">
                <a:solidFill>
                  <a:srgbClr val="FF0000"/>
                </a:solidFill>
                <a:sym typeface="+mn-ea"/>
              </a:rPr>
              <a:t>EQUALLY WEIGTHED AVERAGED </a:t>
            </a:r>
            <a:endParaRPr lang="en-GB" altLang="en-US" sz="2400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935" y="365760"/>
            <a:ext cx="11835765" cy="1325880"/>
          </a:xfrm>
        </p:spPr>
        <p:txBody>
          <a:bodyPr>
            <a:normAutofit/>
          </a:bodyPr>
          <a:p>
            <a:r>
              <a:rPr lang="en-GB" altLang="en-US"/>
              <a:t>Weighted Average - Avoid Overfitting</a:t>
            </a:r>
            <a:endParaRPr lang="en-GB" altLang="en-US"/>
          </a:p>
        </p:txBody>
      </p:sp>
      <p:sp>
        <p:nvSpPr>
          <p:cNvPr id="5" name="Text Box 4"/>
          <p:cNvSpPr txBox="1"/>
          <p:nvPr>
            <p:custDataLst>
              <p:tags r:id="rId1"/>
            </p:custDataLst>
          </p:nvPr>
        </p:nvSpPr>
        <p:spPr>
          <a:xfrm>
            <a:off x="2780030" y="2253615"/>
            <a:ext cx="7740650" cy="32905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GB" altLang="en-US" sz="2400">
                <a:sym typeface="+mn-ea"/>
              </a:rPr>
              <a:t>  1101011 : 4%  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101011 : -1% 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  01011 : 0.2% 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    1011 : -0.6% 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      011 : </a:t>
            </a:r>
            <a:r>
              <a:rPr lang="en-GB" altLang="en-US" sz="2400">
                <a:sym typeface="+mn-ea"/>
              </a:rPr>
              <a:t>0.3% 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        11 : </a:t>
            </a:r>
            <a:r>
              <a:rPr lang="en-GB" altLang="en-US" sz="2400">
                <a:sym typeface="+mn-ea"/>
              </a:rPr>
              <a:t>0.5% </a:t>
            </a:r>
            <a:endParaRPr lang="en-GB" altLang="en-US" sz="2400">
              <a:sym typeface="+mn-ea"/>
            </a:endParaRPr>
          </a:p>
          <a:p>
            <a:pPr marL="457200" lvl="1" indent="457200"/>
            <a:r>
              <a:rPr lang="en-GB" altLang="en-US" sz="2400">
                <a:sym typeface="+mn-ea"/>
              </a:rPr>
              <a:t> 1 : </a:t>
            </a:r>
            <a:r>
              <a:rPr lang="en-GB" altLang="en-US" sz="2400">
                <a:sym typeface="+mn-ea"/>
              </a:rPr>
              <a:t>0.1% </a:t>
            </a:r>
            <a:endParaRPr lang="en-GB" altLang="en-US" sz="2400">
              <a:sym typeface="+mn-ea"/>
            </a:endParaRPr>
          </a:p>
          <a:p>
            <a:endParaRPr lang="en-GB" altLang="en-US" sz="2400">
              <a:sym typeface="+mn-ea"/>
            </a:endParaRPr>
          </a:p>
          <a:p>
            <a:endParaRPr lang="en-GB" altLang="en-US" sz="2400">
              <a:sym typeface="+mn-ea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3474720" y="5362575"/>
            <a:ext cx="898525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GB" altLang="en-US" sz="2400">
                <a:sym typeface="+mn-ea"/>
              </a:rPr>
              <a:t>11101011 : 0.24%    Predicted Rise </a:t>
            </a:r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HISTOGRAM </a:t>
            </a:r>
            <a:r>
              <a:rPr lang="en-US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WEIGTHED</a:t>
            </a:r>
            <a:r>
              <a:rPr lang="en-GB" altLang="en-US" sz="2400">
                <a:solidFill>
                  <a:srgbClr val="FF0000"/>
                </a:solidFill>
                <a:highlight>
                  <a:srgbClr val="FFFF00"/>
                </a:highlight>
                <a:sym typeface="+mn-ea"/>
              </a:rPr>
              <a:t> AVERAGE</a:t>
            </a:r>
            <a:endParaRPr lang="en-GB" altLang="en-US" sz="2400">
              <a:solidFill>
                <a:srgbClr val="FF0000"/>
              </a:solidFill>
              <a:highlight>
                <a:srgbClr val="FFFF00"/>
              </a:highlight>
              <a:sym typeface="+mn-ea"/>
            </a:endParaRPr>
          </a:p>
        </p:txBody>
      </p:sp>
      <p:pic>
        <p:nvPicPr>
          <p:cNvPr id="3" name="Picture 2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3762375" y="2808605"/>
            <a:ext cx="3098165" cy="156845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7886700" y="328803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Histogram Weight Average</a:t>
            </a:r>
            <a:endParaRPr lang="en-GB" altLang="en-US" sz="2400"/>
          </a:p>
        </p:txBody>
      </p:sp>
      <p:cxnSp>
        <p:nvCxnSpPr>
          <p:cNvPr id="7" name="Straight Arrow Connector 6"/>
          <p:cNvCxnSpPr/>
          <p:nvPr>
            <p:custDataLst>
              <p:tags r:id="rId4"/>
            </p:custDataLst>
          </p:nvPr>
        </p:nvCxnSpPr>
        <p:spPr>
          <a:xfrm flipH="1" flipV="1">
            <a:off x="6431280" y="3521075"/>
            <a:ext cx="1259840" cy="12065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Text Box 7"/>
          <p:cNvSpPr txBox="1"/>
          <p:nvPr>
            <p:custDataLst>
              <p:tags r:id="rId5"/>
            </p:custDataLst>
          </p:nvPr>
        </p:nvSpPr>
        <p:spPr>
          <a:xfrm>
            <a:off x="440055" y="1991360"/>
            <a:ext cx="2339975" cy="29616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GB" altLang="en-US" sz="2400">
                <a:sym typeface="+mn-ea"/>
              </a:rPr>
              <a:t>      Sample Size:</a:t>
            </a:r>
            <a:endParaRPr lang="en-GB" altLang="en-US" sz="2400">
              <a:sym typeface="+mn-ea"/>
            </a:endParaRPr>
          </a:p>
          <a:p>
            <a:pPr algn="ctr"/>
            <a:r>
              <a:rPr lang="en-GB" altLang="en-US" sz="2400">
                <a:sym typeface="+mn-ea"/>
              </a:rPr>
              <a:t>20</a:t>
            </a:r>
            <a:endParaRPr lang="en-GB" altLang="en-US" sz="2400">
              <a:sym typeface="+mn-ea"/>
            </a:endParaRPr>
          </a:p>
          <a:p>
            <a:pPr algn="ctr"/>
            <a:r>
              <a:rPr lang="en-GB" altLang="en-US" sz="2400">
                <a:sym typeface="+mn-ea"/>
              </a:rPr>
              <a:t>40</a:t>
            </a:r>
            <a:endParaRPr lang="en-GB" altLang="en-US" sz="2400">
              <a:sym typeface="+mn-ea"/>
            </a:endParaRPr>
          </a:p>
          <a:p>
            <a:pPr algn="ctr"/>
            <a:r>
              <a:rPr lang="en-GB" altLang="en-US" sz="2400">
                <a:sym typeface="+mn-ea"/>
              </a:rPr>
              <a:t>60</a:t>
            </a:r>
            <a:endParaRPr lang="en-GB" altLang="en-US" sz="2400">
              <a:sym typeface="+mn-ea"/>
            </a:endParaRPr>
          </a:p>
          <a:p>
            <a:pPr algn="ctr"/>
            <a:r>
              <a:rPr lang="en-GB" altLang="en-US" sz="2400">
                <a:sym typeface="+mn-ea"/>
              </a:rPr>
              <a:t>100</a:t>
            </a:r>
            <a:endParaRPr lang="en-GB" altLang="en-US" sz="2400">
              <a:sym typeface="+mn-ea"/>
            </a:endParaRPr>
          </a:p>
          <a:p>
            <a:pPr algn="ctr"/>
            <a:r>
              <a:rPr lang="en-GB" altLang="en-US" sz="2400">
                <a:sym typeface="+mn-ea"/>
              </a:rPr>
              <a:t>230</a:t>
            </a:r>
            <a:endParaRPr lang="en-GB" altLang="en-US" sz="2400">
              <a:sym typeface="+mn-ea"/>
            </a:endParaRPr>
          </a:p>
          <a:p>
            <a:pPr algn="ctr"/>
            <a:r>
              <a:rPr lang="en-GB" altLang="en-US" sz="2400">
                <a:sym typeface="+mn-ea"/>
              </a:rPr>
              <a:t>400 </a:t>
            </a:r>
            <a:endParaRPr lang="en-GB" altLang="en-US" sz="2400">
              <a:sym typeface="+mn-ea"/>
            </a:endParaRPr>
          </a:p>
          <a:p>
            <a:pPr algn="ctr"/>
            <a:r>
              <a:rPr lang="en-GB" altLang="en-US" sz="2400">
                <a:sym typeface="+mn-ea"/>
              </a:rPr>
              <a:t>840</a:t>
            </a:r>
            <a:endParaRPr lang="en-GB" altLang="en-US" sz="2400">
              <a:sym typeface="+mn-ea"/>
            </a:endParaRPr>
          </a:p>
          <a:p>
            <a:r>
              <a:rPr lang="en-GB" altLang="en-US" sz="2400">
                <a:sym typeface="+mn-ea"/>
              </a:rPr>
              <a:t>    </a:t>
            </a:r>
            <a:endParaRPr lang="en-GB" altLang="en-US" sz="2400">
              <a:sym typeface="+mn-ea"/>
            </a:endParaRPr>
          </a:p>
          <a:p>
            <a:endParaRPr lang="en-GB" altLang="en-US" sz="2400"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Max Pattern Length Stop Condition</a:t>
            </a:r>
            <a:endParaRPr lang="en-GB" altLang="en-US"/>
          </a:p>
        </p:txBody>
      </p:sp>
      <p:pic>
        <p:nvPicPr>
          <p:cNvPr id="4" name="Content Placeholder 3"/>
          <p:cNvPicPr>
            <a:picLocks noChangeAspect="1"/>
          </p:cNvPicPr>
          <p:nvPr/>
        </p:nvPicPr>
        <p:blipFill>
          <a:blip r:embed="rId1"/>
          <a:srcRect l="12408" b="22209"/>
          <a:stretch>
            <a:fillRect/>
          </a:stretch>
        </p:blipFill>
        <p:spPr>
          <a:xfrm>
            <a:off x="1882140" y="1691005"/>
            <a:ext cx="7889240" cy="333629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1279525" y="4085590"/>
            <a:ext cx="10604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>
                <a:solidFill>
                  <a:srgbClr val="FF0000"/>
                </a:solidFill>
              </a:rPr>
              <a:t>IF NONE</a:t>
            </a:r>
            <a:endParaRPr lang="en-GB" altLang="en-US">
              <a:solidFill>
                <a:srgbClr val="FF0000"/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1063625" y="3897630"/>
            <a:ext cx="1492885" cy="74485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 flipH="1" flipV="1">
            <a:off x="2498090" y="4116705"/>
            <a:ext cx="7482840" cy="1397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Text Box 7"/>
          <p:cNvSpPr txBox="1"/>
          <p:nvPr/>
        </p:nvSpPr>
        <p:spPr>
          <a:xfrm>
            <a:off x="4415790" y="632015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Max Pattern Length = 3</a:t>
            </a:r>
            <a:endParaRPr lang="en-GB" altLang="en-US" sz="2400"/>
          </a:p>
        </p:txBody>
      </p:sp>
      <p:sp>
        <p:nvSpPr>
          <p:cNvPr id="10" name="Text Box 9"/>
          <p:cNvSpPr txBox="1"/>
          <p:nvPr/>
        </p:nvSpPr>
        <p:spPr>
          <a:xfrm>
            <a:off x="10263505" y="3897630"/>
            <a:ext cx="125920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Example Cut</a:t>
            </a:r>
            <a:endParaRPr lang="en-GB" altLang="en-US" sz="2400"/>
          </a:p>
        </p:txBody>
      </p:sp>
      <p:sp>
        <p:nvSpPr>
          <p:cNvPr id="11" name="Text Box 10"/>
          <p:cNvSpPr txBox="1"/>
          <p:nvPr/>
        </p:nvSpPr>
        <p:spPr>
          <a:xfrm>
            <a:off x="4252595" y="571754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sz="2400"/>
              <a:t>Cut Reduces Overfitting</a:t>
            </a:r>
            <a:endParaRPr lang="en-GB" altLang="en-US" sz="2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Patterns are Trained on a Rolling Window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11425"/>
            <a:ext cx="10515600" cy="1659890"/>
          </a:xfrm>
        </p:spPr>
        <p:txBody>
          <a:bodyPr>
            <a:normAutofit/>
          </a:bodyPr>
          <a:p>
            <a:r>
              <a:rPr lang="en-GB" altLang="en-US"/>
              <a:t>Good </a:t>
            </a:r>
            <a:r>
              <a:rPr lang="en-GB" altLang="en-US" b="1"/>
              <a:t>Lookback </a:t>
            </a:r>
            <a:r>
              <a:rPr lang="en-GB" altLang="en-US"/>
              <a:t>= Prevents Overfitting</a:t>
            </a:r>
            <a:endParaRPr lang="en-GB" altLang="en-US"/>
          </a:p>
          <a:p>
            <a:endParaRPr lang="en-GB" altLang="en-US"/>
          </a:p>
          <a:p>
            <a:r>
              <a:rPr lang="en-GB" altLang="en-US"/>
              <a:t>Every day the model is retrained on the past ~300 Days</a:t>
            </a:r>
            <a:endParaRPr lang="en-GB" altLang="en-US"/>
          </a:p>
          <a:p>
            <a:endParaRPr lang="en-GB" altLang="en-US"/>
          </a:p>
          <a:p>
            <a:endParaRPr lang="en-GB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650" y="4146550"/>
            <a:ext cx="4324350" cy="27114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9990" y="2607945"/>
            <a:ext cx="10515600" cy="1325563"/>
          </a:xfrm>
        </p:spPr>
        <p:txBody>
          <a:bodyPr/>
          <a:p>
            <a:r>
              <a:rPr lang="en-GB" altLang="en-US"/>
              <a:t>Alright, </a:t>
            </a:r>
            <a:r>
              <a:rPr lang="en-US" altLang="en-US"/>
              <a:t>Let's</a:t>
            </a:r>
            <a:r>
              <a:rPr lang="en-GB" altLang="en-US"/>
              <a:t> Start Trading Then</a:t>
            </a:r>
            <a:endParaRPr lang="en-GB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Trade Conditions</a:t>
            </a:r>
            <a:endParaRPr lang="en-GB" altLang="en-US"/>
          </a:p>
        </p:txBody>
      </p:sp>
      <p:sp>
        <p:nvSpPr>
          <p:cNvPr id="29" name="Content Placeholder 28"/>
          <p:cNvSpPr>
            <a:spLocks noGrp="1"/>
          </p:cNvSpPr>
          <p:nvPr>
            <p:ph idx="1"/>
          </p:nvPr>
        </p:nvSpPr>
        <p:spPr>
          <a:xfrm>
            <a:off x="838200" y="2303780"/>
            <a:ext cx="10515600" cy="3145155"/>
          </a:xfrm>
        </p:spPr>
        <p:txBody>
          <a:bodyPr/>
          <a:p>
            <a:pPr marL="0" indent="0" algn="l">
              <a:buNone/>
            </a:pPr>
            <a:r>
              <a:rPr lang="en-GB" altLang="en-US"/>
              <a:t>When?:   </a:t>
            </a:r>
            <a:r>
              <a:rPr lang="en-GB" altLang="en-US">
                <a:solidFill>
                  <a:srgbClr val="00B050"/>
                </a:solidFill>
              </a:rPr>
              <a:t>Enter </a:t>
            </a:r>
            <a:r>
              <a:rPr lang="en-GB" altLang="en-US"/>
              <a:t>End of Day (Actually 1 hr prior due to latency)</a:t>
            </a:r>
            <a:endParaRPr lang="en-GB" altLang="en-US"/>
          </a:p>
          <a:p>
            <a:pPr marL="0" indent="0" algn="l">
              <a:buNone/>
            </a:pPr>
            <a:r>
              <a:rPr lang="en-GB" altLang="en-US"/>
              <a:t>                 </a:t>
            </a:r>
            <a:r>
              <a:rPr lang="en-GB" altLang="en-US">
                <a:solidFill>
                  <a:srgbClr val="FF0000"/>
                </a:solidFill>
              </a:rPr>
              <a:t>Exit</a:t>
            </a:r>
            <a:r>
              <a:rPr lang="en-GB" altLang="en-US"/>
              <a:t> </a:t>
            </a:r>
            <a:r>
              <a:rPr lang="en-GB" altLang="en-US">
                <a:highlight>
                  <a:srgbClr val="FFFF00"/>
                </a:highlight>
              </a:rPr>
              <a:t>Next </a:t>
            </a:r>
            <a:r>
              <a:rPr lang="en-GB" altLang="en-US"/>
              <a:t>End of Day</a:t>
            </a:r>
            <a:r>
              <a:rPr lang="en-US" altLang="en-GB"/>
              <a:t> (24 hrs later)</a:t>
            </a:r>
            <a:endParaRPr lang="en-GB" altLang="en-US"/>
          </a:p>
          <a:p>
            <a:pPr marL="0" indent="0">
              <a:buNone/>
            </a:pPr>
            <a:endParaRPr lang="en-GB" altLang="en-US"/>
          </a:p>
          <a:p>
            <a:pPr marL="0" indent="0">
              <a:buNone/>
            </a:pPr>
            <a:endParaRPr lang="en-GB" altLang="en-US"/>
          </a:p>
          <a:p>
            <a:pPr marL="0" indent="0" algn="ctr">
              <a:buNone/>
            </a:pPr>
            <a:r>
              <a:rPr lang="en-GB" altLang="en-US">
                <a:solidFill>
                  <a:srgbClr val="00B050"/>
                </a:solidFill>
              </a:rPr>
              <a:t>Long </a:t>
            </a:r>
            <a:r>
              <a:rPr lang="en-GB" altLang="en-US"/>
              <a:t>: Predicted Return  &gt;  Threshold</a:t>
            </a:r>
            <a:endParaRPr lang="en-GB" altLang="en-US"/>
          </a:p>
          <a:p>
            <a:pPr marL="0" indent="0" algn="ctr">
              <a:buNone/>
            </a:pPr>
            <a:r>
              <a:rPr lang="en-GB" altLang="en-US">
                <a:solidFill>
                  <a:srgbClr val="FF0000"/>
                </a:solidFill>
                <a:sym typeface="+mn-ea"/>
              </a:rPr>
              <a:t>Short</a:t>
            </a:r>
            <a:r>
              <a:rPr lang="en-GB" altLang="en-US">
                <a:sym typeface="+mn-ea"/>
              </a:rPr>
              <a:t>: Predicted Return  &lt;  -Threshold</a:t>
            </a:r>
            <a:endParaRPr lang="en-GB" altLang="en-US"/>
          </a:p>
          <a:p>
            <a:pPr marL="0" indent="0">
              <a:buNone/>
            </a:pPr>
            <a:endParaRPr lang="en-GB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Trade Threshold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4280" y="2248535"/>
            <a:ext cx="10515600" cy="4351338"/>
          </a:xfrm>
        </p:spPr>
        <p:txBody>
          <a:bodyPr/>
          <a:p>
            <a:pPr marL="0" indent="0">
              <a:buNone/>
            </a:pPr>
            <a:r>
              <a:rPr lang="en-GB" altLang="en-US"/>
              <a:t>Static Trade Threshold = </a:t>
            </a:r>
            <a:r>
              <a:rPr lang="en-US" altLang="en-US"/>
              <a:t>Suboptimal</a:t>
            </a:r>
            <a:r>
              <a:rPr lang="en-GB" altLang="en-US"/>
              <a:t> (Have to maunally guess)</a:t>
            </a:r>
            <a:endParaRPr lang="en-GB" altLang="en-US"/>
          </a:p>
          <a:p>
            <a:endParaRPr lang="en-GB" altLang="en-US"/>
          </a:p>
          <a:p>
            <a:pPr marL="0" indent="0">
              <a:buNone/>
            </a:pPr>
            <a:endParaRPr lang="en-GB" altLang="en-US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GB" altLang="en-US">
                <a:highlight>
                  <a:srgbClr val="FFFF00"/>
                </a:highlight>
              </a:rPr>
              <a:t>Dynamic Trade Threshold</a:t>
            </a:r>
            <a:r>
              <a:rPr lang="en-GB" altLang="en-US"/>
              <a:t> = Automated, Adapting</a:t>
            </a:r>
            <a:endParaRPr lang="en-GB" altLang="en-US"/>
          </a:p>
        </p:txBody>
      </p:sp>
      <p:pic>
        <p:nvPicPr>
          <p:cNvPr id="5" name="Picture 4"/>
          <p:cNvPicPr/>
          <p:nvPr/>
        </p:nvPicPr>
        <p:blipFill>
          <a:blip r:embed="rId1"/>
          <a:stretch>
            <a:fillRect/>
          </a:stretch>
        </p:blipFill>
        <p:spPr>
          <a:xfrm>
            <a:off x="8700135" y="3522345"/>
            <a:ext cx="1141095" cy="90995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1290" y="2132330"/>
            <a:ext cx="883920" cy="7556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GB" altLang="en-US"/>
              <a:t>Trade Threshold = Percentile of Dynamic Predictions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0805" y="6228080"/>
            <a:ext cx="8187055" cy="629920"/>
          </a:xfrm>
        </p:spPr>
        <p:txBody>
          <a:bodyPr/>
          <a:p>
            <a:pPr marL="0" indent="0">
              <a:buNone/>
            </a:pPr>
            <a:r>
              <a:rPr lang="en-GB" altLang="en-US"/>
              <a:t>ALL Predictions at Max Pattern Length</a:t>
            </a:r>
            <a:endParaRPr lang="en-GB" altLang="en-US"/>
          </a:p>
        </p:txBody>
      </p:sp>
      <p:pic>
        <p:nvPicPr>
          <p:cNvPr id="4" name="Content Placeholder 3"/>
          <p:cNvPicPr>
            <a:picLocks noChangeAspect="1"/>
          </p:cNvPicPr>
          <p:nvPr/>
        </p:nvPicPr>
        <p:blipFill>
          <a:blip r:embed="rId1"/>
          <a:srcRect l="12408"/>
          <a:stretch>
            <a:fillRect/>
          </a:stretch>
        </p:blipFill>
        <p:spPr>
          <a:xfrm>
            <a:off x="0" y="1923415"/>
            <a:ext cx="7889240" cy="4288790"/>
          </a:xfrm>
          <a:prstGeom prst="rect">
            <a:avLst/>
          </a:prstGeom>
        </p:spPr>
      </p:pic>
      <p:cxnSp>
        <p:nvCxnSpPr>
          <p:cNvPr id="5" name="Straight Arrow Connector 4"/>
          <p:cNvCxnSpPr/>
          <p:nvPr/>
        </p:nvCxnSpPr>
        <p:spPr>
          <a:xfrm flipV="1">
            <a:off x="5299075" y="3446145"/>
            <a:ext cx="3709670" cy="295656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Content Placeholder 2"/>
          <p:cNvSpPr>
            <a:spLocks noGrp="1"/>
          </p:cNvSpPr>
          <p:nvPr/>
        </p:nvSpPr>
        <p:spPr>
          <a:xfrm>
            <a:off x="8146415" y="2312670"/>
            <a:ext cx="8187055" cy="1708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altLang="en-US">
                <a:solidFill>
                  <a:srgbClr val="FF0000"/>
                </a:solidFill>
              </a:rPr>
              <a:t>90th Percentile</a:t>
            </a:r>
            <a:r>
              <a:rPr lang="en-GB" altLang="en-US"/>
              <a:t> of </a:t>
            </a:r>
            <a:endParaRPr lang="en-GB" altLang="en-US"/>
          </a:p>
          <a:p>
            <a:pPr marL="0" indent="0">
              <a:buNone/>
            </a:pPr>
            <a:r>
              <a:rPr lang="en-GB" altLang="en-US"/>
              <a:t>ALL PREDICTIONS</a:t>
            </a:r>
            <a:endParaRPr lang="en-GB" altLang="en-US"/>
          </a:p>
        </p:txBody>
      </p:sp>
      <p:sp>
        <p:nvSpPr>
          <p:cNvPr id="7" name="Oval 6"/>
          <p:cNvSpPr/>
          <p:nvPr/>
        </p:nvSpPr>
        <p:spPr>
          <a:xfrm>
            <a:off x="7963535" y="1838960"/>
            <a:ext cx="3107055" cy="203581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300"/>
          <p:cNvPicPr>
            <a:picLocks noChangeAspect="1"/>
          </p:cNvPicPr>
          <p:nvPr/>
        </p:nvPicPr>
        <p:blipFill>
          <a:blip r:embed="rId1"/>
          <a:srcRect r="45121"/>
          <a:stretch>
            <a:fillRect/>
          </a:stretch>
        </p:blipFill>
        <p:spPr>
          <a:xfrm>
            <a:off x="1121410" y="85725"/>
            <a:ext cx="10410190" cy="677481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600"/>
          <p:cNvPicPr>
            <a:picLocks noChangeAspect="1"/>
          </p:cNvPicPr>
          <p:nvPr/>
        </p:nvPicPr>
        <p:blipFill>
          <a:blip r:embed="rId1"/>
          <a:srcRect r="50969"/>
          <a:stretch>
            <a:fillRect/>
          </a:stretch>
        </p:blipFill>
        <p:spPr>
          <a:xfrm>
            <a:off x="1300480" y="0"/>
            <a:ext cx="9402445" cy="68491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900"/>
          <p:cNvPicPr>
            <a:picLocks noChangeAspect="1"/>
          </p:cNvPicPr>
          <p:nvPr/>
        </p:nvPicPr>
        <p:blipFill>
          <a:blip r:embed="rId1"/>
          <a:srcRect r="47339"/>
          <a:stretch>
            <a:fillRect/>
          </a:stretch>
        </p:blipFill>
        <p:spPr>
          <a:xfrm>
            <a:off x="1135380" y="0"/>
            <a:ext cx="1011110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 descr="1500"/>
          <p:cNvPicPr>
            <a:picLocks noChangeAspect="1"/>
          </p:cNvPicPr>
          <p:nvPr/>
        </p:nvPicPr>
        <p:blipFill>
          <a:blip r:embed="rId1"/>
          <a:srcRect r="50385"/>
          <a:stretch>
            <a:fillRect/>
          </a:stretch>
        </p:blipFill>
        <p:spPr>
          <a:xfrm>
            <a:off x="1235710" y="0"/>
            <a:ext cx="9556115" cy="68789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8540" y="2145030"/>
            <a:ext cx="10515600" cy="1325563"/>
          </a:xfrm>
        </p:spPr>
        <p:txBody>
          <a:bodyPr/>
          <a:p>
            <a:r>
              <a:rPr lang="en-GB" altLang="en-US"/>
              <a:t>Let’s Add Some Betsizing Before Evaluating</a:t>
            </a:r>
            <a:endParaRPr lang="en-GB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489435" y="3125402"/>
            <a:ext cx="7830208" cy="35711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738877" y="203197"/>
                <a:ext cx="10711196" cy="27813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endParaRPr lang="en-US" sz="900" dirty="0">
                  <a:solidFill>
                    <a:schemeClr val="tx1"/>
                  </a:solidFill>
                  <a:latin typeface="Amasis MT Pro Light" panose="02040304050005020304" pitchFamily="18" charset="0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Calibri" panose="020F0502020204030204" charset="0"/>
                    <a:cs typeface="Calibri" panose="020F0502020204030204" charset="0"/>
                  </a:rPr>
                  <a:t>GARCH(1,1) model             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𝜔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𝛼</m:t>
                    </m:r>
                    <m:sSubSup>
                      <m:sSubSup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MS Mincho" charset="0"/>
                        <a:cs typeface="Cambria Math" panose="02040503050406030204" pitchFamily="18" charset="0"/>
                      </a:rPr>
                      <m:t>𝛽</m:t>
                    </m:r>
                    <m:sSubSup>
                      <m:sSubSup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Calibri" panose="020F0502020204030204" charset="0"/>
                    <a:cs typeface="Calibri" panose="020F0502020204030204" charset="0"/>
                  </a:rPr>
                  <a:t>    </a:t>
                </a:r>
                <a:endParaRPr lang="en-US" sz="2400" dirty="0">
                  <a:solidFill>
                    <a:schemeClr val="tx1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endParaRPr lang="en-US" sz="2000" dirty="0">
                  <a:solidFill>
                    <a:schemeClr val="tx1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libri" panose="020F0502020204030204" charset="0"/>
                    <a:cs typeface="Calibri" panose="020F0502020204030204" charset="0"/>
                  </a:rPr>
                  <a:t>ω long term average variance, baseline volatility</a:t>
                </a:r>
                <a:endParaRPr lang="en-US" sz="2000" dirty="0">
                  <a:solidFill>
                    <a:schemeClr val="tx1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r>
                  <a:rPr lang="el-GR" sz="2000" dirty="0">
                    <a:solidFill>
                      <a:schemeClr val="tx1"/>
                    </a:solidFill>
                    <a:latin typeface="Calibri" panose="020F0502020204030204" charset="0"/>
                    <a:cs typeface="Calibri" panose="020F0502020204030204" charset="0"/>
                  </a:rPr>
                  <a:t>α</a:t>
                </a:r>
                <a:r>
                  <a:rPr lang="en-US" sz="2000" dirty="0">
                    <a:solidFill>
                      <a:schemeClr val="tx1"/>
                    </a:solidFill>
                    <a:latin typeface="Calibri" panose="020F0502020204030204" charset="0"/>
                    <a:cs typeface="Calibri" panose="020F0502020204030204" charset="0"/>
                  </a:rPr>
                  <a:t> sensitivity to yesterday’s shock</a:t>
                </a:r>
                <a:endParaRPr lang="en-US" sz="2000" dirty="0">
                  <a:solidFill>
                    <a:schemeClr val="tx1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r>
                  <a:rPr lang="el-GR" sz="2000" dirty="0">
                    <a:solidFill>
                      <a:schemeClr val="tx1"/>
                    </a:solidFill>
                    <a:latin typeface="Calibri" panose="020F0502020204030204" charset="0"/>
                    <a:cs typeface="Calibri" panose="020F0502020204030204" charset="0"/>
                  </a:rPr>
                  <a:t>β</a:t>
                </a:r>
                <a:r>
                  <a:rPr lang="en-US" sz="2000" dirty="0">
                    <a:solidFill>
                      <a:schemeClr val="tx1"/>
                    </a:solidFill>
                    <a:latin typeface="Calibri" panose="020F0502020204030204" charset="0"/>
                    <a:cs typeface="Calibri" panose="020F0502020204030204" charset="0"/>
                  </a:rPr>
                  <a:t> persistence of past volatility</a:t>
                </a:r>
                <a:endParaRPr lang="en-US" sz="2000" dirty="0">
                  <a:solidFill>
                    <a:schemeClr val="tx1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libri" panose="020F0502020204030204" charset="0"/>
                    <a:cs typeface="Calibri" panose="020F0502020204030204" charset="0"/>
                  </a:rPr>
                  <a:t>Zero mean: pure focus on volatility, assume daily returns ~0</a:t>
                </a:r>
                <a:endParaRPr lang="en-US" sz="2000" dirty="0">
                  <a:solidFill>
                    <a:schemeClr val="tx1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libri" panose="020F0502020204030204" charset="0"/>
                    <a:cs typeface="Calibri" panose="020F0502020204030204" charset="0"/>
                  </a:rPr>
                  <a:t>Normal errors: standard assumption modeling conditional variance</a:t>
                </a:r>
                <a:endParaRPr lang="en-US" sz="2000" dirty="0">
                  <a:solidFill>
                    <a:schemeClr val="tx1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Calibri" panose="020F0502020204030204" charset="0"/>
                    <a:cs typeface="Calibri" panose="020F0502020204030204" charset="0"/>
                  </a:rPr>
                  <a:t>100 day rolling window, </a:t>
                </a:r>
                <a:r>
                  <a:rPr lang="en-US" sz="2000" b="1" dirty="0">
                    <a:solidFill>
                      <a:srgbClr val="FF0000"/>
                    </a:solidFill>
                    <a:latin typeface="Calibri" panose="020F0502020204030204" charset="0"/>
                    <a:cs typeface="Calibri" panose="020F0502020204030204" charset="0"/>
                  </a:rPr>
                  <a:t>forecast next day volatility</a:t>
                </a:r>
                <a:endParaRPr lang="en-US" sz="2000" b="1" dirty="0">
                  <a:solidFill>
                    <a:srgbClr val="FF0000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77" y="203197"/>
                <a:ext cx="10711196" cy="2781300"/>
              </a:xfrm>
              <a:prstGeom prst="rect">
                <a:avLst/>
              </a:prstGeom>
              <a:blipFill rotWithShape="1">
                <a:blip r:embed="rId2"/>
                <a:stretch>
                  <a:fillRect l="-3" t="-23" r="4" b="23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b="1" dirty="0">
                <a:latin typeface="Calibri" panose="020F0502020204030204" charset="0"/>
                <a:cs typeface="Calibri" panose="020F0502020204030204" charset="0"/>
                <a:sym typeface="+mn-ea"/>
              </a:rPr>
              <a:t>Volatility-Scaled Bet Sizing</a:t>
            </a:r>
            <a:endParaRPr lang="en-US"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761365" y="1648460"/>
            <a:ext cx="10403205" cy="51619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endParaRPr lang="en-GB" sz="2000" dirty="0">
              <a:latin typeface="Calibri" panose="020F0502020204030204" charset="0"/>
              <a:cs typeface="Calibri" panose="020F0502020204030204" charset="0"/>
            </a:endParaRPr>
          </a:p>
          <a:p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Each trade has a </a:t>
            </a:r>
            <a:r>
              <a:rPr lang="en-GB" sz="2000" b="1" dirty="0">
                <a:latin typeface="Calibri" panose="020F0502020204030204" charset="0"/>
                <a:cs typeface="Calibri" panose="020F0502020204030204" charset="0"/>
                <a:sym typeface="+mn-ea"/>
              </a:rPr>
              <a:t>maximum allocation of </a:t>
            </a:r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100%</a:t>
            </a:r>
            <a:r>
              <a:rPr lang="en-GB" sz="2000" b="1" dirty="0">
                <a:latin typeface="Calibri" panose="020F0502020204030204" charset="0"/>
                <a:cs typeface="Calibri" panose="020F0502020204030204" charset="0"/>
                <a:sym typeface="+mn-ea"/>
              </a:rPr>
              <a:t> of the portfolio</a:t>
            </a:r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. </a:t>
            </a:r>
            <a:endParaRPr lang="en-GB" sz="2000" dirty="0"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endParaRPr lang="en-GB" sz="2000" dirty="0">
              <a:latin typeface="Calibri" panose="020F0502020204030204" charset="0"/>
              <a:cs typeface="Calibri" panose="020F0502020204030204" charset="0"/>
            </a:endParaRPr>
          </a:p>
          <a:p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The model first </a:t>
            </a:r>
            <a:r>
              <a:rPr lang="en-GB" sz="2000" b="1" dirty="0">
                <a:latin typeface="Calibri" panose="020F0502020204030204" charset="0"/>
                <a:cs typeface="Calibri" panose="020F0502020204030204" charset="0"/>
                <a:sym typeface="+mn-ea"/>
              </a:rPr>
              <a:t>predicts next-day market volatility</a:t>
            </a:r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 using recent return data.</a:t>
            </a:r>
            <a:endParaRPr lang="en-GB" sz="2000" dirty="0"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endParaRPr lang="en-GB" sz="2000" dirty="0">
              <a:latin typeface="Calibri" panose="020F0502020204030204" charset="0"/>
              <a:cs typeface="Calibri" panose="020F0502020204030204" charset="0"/>
            </a:endParaRPr>
          </a:p>
          <a:p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That predicted volatility is then </a:t>
            </a:r>
            <a:r>
              <a:rPr lang="en-GB" sz="2000" b="1" dirty="0">
                <a:latin typeface="Calibri" panose="020F0502020204030204" charset="0"/>
                <a:cs typeface="Calibri" panose="020F0502020204030204" charset="0"/>
                <a:sym typeface="+mn-ea"/>
              </a:rPr>
              <a:t>scaled relative to recent volatility levels</a:t>
            </a:r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 so it falls between </a:t>
            </a:r>
            <a:r>
              <a:rPr lang="en-GB" sz="2000" b="1" dirty="0">
                <a:latin typeface="Calibri" panose="020F0502020204030204" charset="0"/>
                <a:cs typeface="Calibri" panose="020F0502020204030204" charset="0"/>
                <a:sym typeface="+mn-ea"/>
              </a:rPr>
              <a:t>0 and 1</a:t>
            </a:r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.</a:t>
            </a:r>
            <a:endParaRPr lang="en-GB" sz="2000" dirty="0"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endParaRPr lang="en-GB" sz="2000" dirty="0">
              <a:latin typeface="Calibri" panose="020F0502020204030204" charset="0"/>
              <a:cs typeface="Calibri" panose="020F0502020204030204" charset="0"/>
            </a:endParaRPr>
          </a:p>
          <a:p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The position size is set using:</a:t>
            </a:r>
            <a:endParaRPr lang="en-GB" sz="2000" dirty="0">
              <a:latin typeface="Calibri" panose="020F0502020204030204" charset="0"/>
              <a:cs typeface="Calibri" panose="020F0502020204030204" charset="0"/>
            </a:endParaRPr>
          </a:p>
          <a:p>
            <a:r>
              <a:rPr lang="en-GB" sz="2800" b="1" dirty="0">
                <a:solidFill>
                  <a:srgbClr val="FF0000"/>
                </a:solidFill>
                <a:latin typeface="Calibri" panose="020F0502020204030204" charset="0"/>
                <a:cs typeface="Calibri" panose="020F0502020204030204" charset="0"/>
                <a:sym typeface="+mn-ea"/>
              </a:rPr>
              <a:t>Bet Size = Max Bet Fraction ∙ (1 – Normalized Volatility)</a:t>
            </a:r>
            <a:endParaRPr lang="en-GB" sz="2800" b="1" dirty="0">
              <a:solidFill>
                <a:srgbClr val="FF0000"/>
              </a:solidFill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endParaRPr lang="en-GB" sz="2000" dirty="0">
              <a:latin typeface="Calibri" panose="020F0502020204030204" charset="0"/>
              <a:cs typeface="Calibri" panose="020F0502020204030204" charset="0"/>
            </a:endParaRPr>
          </a:p>
          <a:p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This means:</a:t>
            </a:r>
            <a:endParaRPr lang="en-GB" sz="2000" dirty="0">
              <a:latin typeface="Calibri" panose="020F0502020204030204" charset="0"/>
              <a:cs typeface="Calibri" panose="020F0502020204030204" charset="0"/>
            </a:endParaRPr>
          </a:p>
          <a:p>
            <a:pPr lvl="1"/>
            <a:r>
              <a:rPr lang="en-GB" sz="2000" b="1" dirty="0">
                <a:latin typeface="Calibri" panose="020F0502020204030204" charset="0"/>
                <a:cs typeface="Calibri" panose="020F0502020204030204" charset="0"/>
                <a:sym typeface="+mn-ea"/>
              </a:rPr>
              <a:t>Calm markets (low predicted volatility):</a:t>
            </a:r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     larger positions</a:t>
            </a:r>
            <a:endParaRPr lang="en-GB" sz="2000" dirty="0">
              <a:latin typeface="Calibri" panose="020F0502020204030204" charset="0"/>
              <a:cs typeface="Calibri" panose="020F0502020204030204" charset="0"/>
            </a:endParaRPr>
          </a:p>
          <a:p>
            <a:pPr lvl="1"/>
            <a:r>
              <a:rPr lang="en-GB" sz="2000" b="1" dirty="0">
                <a:latin typeface="Calibri" panose="020F0502020204030204" charset="0"/>
                <a:cs typeface="Calibri" panose="020F0502020204030204" charset="0"/>
                <a:sym typeface="+mn-ea"/>
              </a:rPr>
              <a:t>Crazy markets (high predicted volatility):</a:t>
            </a:r>
            <a:r>
              <a:rPr lang="en-GB" sz="2000" dirty="0">
                <a:latin typeface="Calibri" panose="020F0502020204030204" charset="0"/>
                <a:cs typeface="Calibri" panose="020F0502020204030204" charset="0"/>
                <a:sym typeface="+mn-ea"/>
              </a:rPr>
              <a:t>     smaller positions</a:t>
            </a:r>
            <a:endParaRPr lang="en-GB" sz="2000" dirty="0"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pPr lvl="1"/>
            <a:endParaRPr lang="en-GB" sz="2000" dirty="0">
              <a:latin typeface="Calibri" panose="020F0502020204030204" charset="0"/>
              <a:cs typeface="Calibri" panose="020F0502020204030204" charset="0"/>
            </a:endParaRPr>
          </a:p>
          <a:p>
            <a:r>
              <a:rPr lang="en-GB" sz="2000" i="1" dirty="0">
                <a:latin typeface="Calibri" panose="020F0502020204030204" charset="0"/>
                <a:cs typeface="Calibri" panose="020F0502020204030204" charset="0"/>
                <a:sym typeface="+mn-ea"/>
              </a:rPr>
              <a:t>Result: Reduces risk</a:t>
            </a:r>
            <a:endParaRPr lang="en-GB" sz="2000" i="1" dirty="0">
              <a:latin typeface="Calibri" panose="020F0502020204030204" charset="0"/>
              <a:cs typeface="Calibri" panose="020F0502020204030204" charset="0"/>
              <a:sym typeface="+mn-e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Apple_8yea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970" y="276860"/>
            <a:ext cx="10972800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0980" y="2715895"/>
            <a:ext cx="10515600" cy="1325563"/>
          </a:xfrm>
        </p:spPr>
        <p:txBody>
          <a:bodyPr/>
          <a:p>
            <a:r>
              <a:rPr lang="en-GB" altLang="en-US"/>
              <a:t>Now For Some Performance Evaluation</a:t>
            </a:r>
            <a:endParaRPr lang="en-GB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Benchmark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65" y="38100"/>
            <a:ext cx="11690985" cy="68199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5767705" y="5711825"/>
            <a:ext cx="5943600" cy="514985"/>
          </a:xfrm>
          <a:prstGeom prst="roundRect">
            <a:avLst/>
          </a:prstGeom>
          <a:noFill/>
          <a:ln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cxnSp>
        <p:nvCxnSpPr>
          <p:cNvPr id="5" name="Straight Arrow Connector 4"/>
          <p:cNvCxnSpPr/>
          <p:nvPr/>
        </p:nvCxnSpPr>
        <p:spPr>
          <a:xfrm flipH="1" flipV="1">
            <a:off x="8502015" y="3622675"/>
            <a:ext cx="1076325" cy="855345"/>
          </a:xfrm>
          <a:prstGeom prst="straightConnector1">
            <a:avLst/>
          </a:prstGeom>
          <a:ln>
            <a:solidFill>
              <a:srgbClr val="C0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Text Box 5"/>
          <p:cNvSpPr txBox="1"/>
          <p:nvPr/>
        </p:nvSpPr>
        <p:spPr>
          <a:xfrm>
            <a:off x="9102725" y="4478020"/>
            <a:ext cx="1221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b="1"/>
              <a:t>Our Model</a:t>
            </a:r>
            <a:endParaRPr lang="en-GB" altLang="en-US" b="1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6400" y="2731135"/>
            <a:ext cx="8964930" cy="1325880"/>
          </a:xfrm>
        </p:spPr>
        <p:txBody>
          <a:bodyPr/>
          <a:p>
            <a:r>
              <a:rPr lang="en-US" altLang="en-US"/>
              <a:t>Effect of Parameters on Performance</a:t>
            </a:r>
            <a:endParaRPr lang="en-US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910" y="-40005"/>
            <a:ext cx="11825605" cy="6898005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467850" y="5687695"/>
            <a:ext cx="2494280" cy="539115"/>
          </a:xfrm>
          <a:prstGeom prst="roundRect">
            <a:avLst/>
          </a:prstGeom>
          <a:noFill/>
          <a:ln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8041640" y="641985"/>
            <a:ext cx="19564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b="1"/>
              <a:t>With Latency</a:t>
            </a:r>
            <a:endParaRPr lang="en-GB" altLang="en-US" b="1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9417050" y="878205"/>
            <a:ext cx="956310" cy="66040"/>
          </a:xfrm>
          <a:prstGeom prst="straightConnector1">
            <a:avLst/>
          </a:prstGeom>
          <a:ln>
            <a:solidFill>
              <a:srgbClr val="C0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7497445" y="344170"/>
            <a:ext cx="51435" cy="59550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780" y="0"/>
            <a:ext cx="11803380" cy="6857365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7745730" y="5699125"/>
            <a:ext cx="4138295" cy="477520"/>
          </a:xfrm>
          <a:prstGeom prst="roundRect">
            <a:avLst/>
          </a:prstGeom>
          <a:noFill/>
          <a:ln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8522335" y="4273550"/>
            <a:ext cx="25844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b="1"/>
              <a:t>Lower Lookback = Underfitted Model</a:t>
            </a:r>
            <a:endParaRPr lang="en-GB" altLang="en-US" b="1"/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9314815" y="3669030"/>
            <a:ext cx="5715" cy="611505"/>
          </a:xfrm>
          <a:prstGeom prst="straightConnector1">
            <a:avLst/>
          </a:prstGeom>
          <a:ln>
            <a:solidFill>
              <a:srgbClr val="C0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755" y="79375"/>
            <a:ext cx="11619865" cy="6778625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7669530" y="3128645"/>
            <a:ext cx="4071620" cy="450215"/>
          </a:xfrm>
          <a:prstGeom prst="roundRect">
            <a:avLst/>
          </a:prstGeom>
          <a:noFill/>
          <a:ln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562725" y="3843020"/>
            <a:ext cx="2584450" cy="1277620"/>
            <a:chOff x="10335" y="6052"/>
            <a:chExt cx="4070" cy="2012"/>
          </a:xfrm>
        </p:grpSpPr>
        <p:sp>
          <p:nvSpPr>
            <p:cNvPr id="6" name="Text Box 5"/>
            <p:cNvSpPr txBox="1"/>
            <p:nvPr/>
          </p:nvSpPr>
          <p:spPr>
            <a:xfrm>
              <a:off x="10335" y="6052"/>
              <a:ext cx="4070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b="1"/>
                <a:t>Super High Lookback = Overfitted Model</a:t>
              </a:r>
              <a:endParaRPr lang="en-GB" altLang="en-US" b="1"/>
            </a:p>
          </p:txBody>
        </p:sp>
        <p:cxnSp>
          <p:nvCxnSpPr>
            <p:cNvPr id="5" name="Straight Arrow Connector 4"/>
            <p:cNvCxnSpPr/>
            <p:nvPr/>
          </p:nvCxnSpPr>
          <p:spPr>
            <a:xfrm>
              <a:off x="11998" y="7068"/>
              <a:ext cx="208" cy="996"/>
            </a:xfrm>
            <a:prstGeom prst="straightConnector1">
              <a:avLst/>
            </a:prstGeom>
            <a:ln>
              <a:solidFill>
                <a:srgbClr val="C00000"/>
              </a:solidFill>
              <a:tailEnd type="arrow" w="med" len="med"/>
            </a:ln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455" y="0"/>
            <a:ext cx="11755755" cy="685800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8399145" y="3815715"/>
            <a:ext cx="3001010" cy="1546860"/>
            <a:chOff x="13227" y="6009"/>
            <a:chExt cx="4726" cy="2436"/>
          </a:xfrm>
        </p:grpSpPr>
        <p:sp>
          <p:nvSpPr>
            <p:cNvPr id="6" name="Text Box 5"/>
            <p:cNvSpPr txBox="1"/>
            <p:nvPr/>
          </p:nvSpPr>
          <p:spPr>
            <a:xfrm>
              <a:off x="13227" y="6993"/>
              <a:ext cx="4726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GB" altLang="en-US" b="1"/>
                <a:t>Not Weighting Recent Data =</a:t>
              </a:r>
              <a:endParaRPr lang="en-GB" altLang="en-US" b="1"/>
            </a:p>
            <a:p>
              <a:r>
                <a:rPr lang="en-GB" altLang="en-US" b="1"/>
                <a:t>Not Adaptive =</a:t>
              </a:r>
              <a:endParaRPr lang="en-GB" altLang="en-US" b="1"/>
            </a:p>
            <a:p>
              <a:r>
                <a:rPr lang="en-GB" altLang="en-US" b="1"/>
                <a:t>Decrease Sharpe</a:t>
              </a:r>
              <a:endParaRPr lang="en-GB" altLang="en-US" b="1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 flipV="1">
              <a:off x="13836" y="6009"/>
              <a:ext cx="247" cy="857"/>
            </a:xfrm>
            <a:prstGeom prst="straightConnector1">
              <a:avLst/>
            </a:prstGeom>
            <a:ln>
              <a:solidFill>
                <a:srgbClr val="C00000"/>
              </a:solidFill>
              <a:tailEnd type="arrow" w="med" len="med"/>
            </a:ln>
          </p:spPr>
          <p:style>
            <a:lnRef idx="3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085" y="14605"/>
            <a:ext cx="11729720" cy="684339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8147685" y="4546600"/>
            <a:ext cx="37598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b="1"/>
              <a:t>Not Using the Histogram Method to Weight Sub-Pattern Averages</a:t>
            </a:r>
            <a:endParaRPr lang="en-GB" altLang="en-US" b="1"/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9592945" y="4059555"/>
            <a:ext cx="243840" cy="487045"/>
          </a:xfrm>
          <a:prstGeom prst="straightConnector1">
            <a:avLst/>
          </a:prstGeom>
          <a:ln>
            <a:solidFill>
              <a:srgbClr val="C0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720" y="47625"/>
            <a:ext cx="11673205" cy="680974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5547360" y="1322705"/>
            <a:ext cx="37598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b="1"/>
              <a:t>Static Threshold has Lower Sharpe</a:t>
            </a:r>
            <a:endParaRPr lang="en-GB" altLang="en-US" b="1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7530465" y="1975485"/>
            <a:ext cx="413385" cy="685165"/>
          </a:xfrm>
          <a:prstGeom prst="straightConnector1">
            <a:avLst/>
          </a:prstGeom>
          <a:ln>
            <a:solidFill>
              <a:srgbClr val="C0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550" y="-5080"/>
            <a:ext cx="11750040" cy="685482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5041900" y="1212850"/>
            <a:ext cx="4316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b="1"/>
              <a:t>Decreasing the Trade Threshold Percentile</a:t>
            </a:r>
            <a:endParaRPr lang="en-GB" altLang="en-US" b="1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7216775" y="1715135"/>
            <a:ext cx="709295" cy="957580"/>
          </a:xfrm>
          <a:prstGeom prst="straightConnector1">
            <a:avLst/>
          </a:prstGeom>
          <a:ln>
            <a:solidFill>
              <a:srgbClr val="C0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Picture 3" descr="Figure_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510" y="77470"/>
            <a:ext cx="11490960" cy="670306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888730" y="5687695"/>
            <a:ext cx="3073400" cy="450215"/>
          </a:xfrm>
          <a:prstGeom prst="roundRect">
            <a:avLst/>
          </a:prstGeom>
          <a:noFill/>
          <a:ln>
            <a:solidFill>
              <a:srgbClr val="C0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8147685" y="4546600"/>
            <a:ext cx="38138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GB" altLang="en-US" b="1"/>
              <a:t>Higher Sharpe With Dynamic Volatility Betsizing</a:t>
            </a:r>
            <a:endParaRPr lang="en-GB" altLang="en-US" b="1"/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8653145" y="3816350"/>
            <a:ext cx="283210" cy="793115"/>
          </a:xfrm>
          <a:prstGeom prst="straightConnector1">
            <a:avLst/>
          </a:prstGeom>
          <a:ln>
            <a:solidFill>
              <a:srgbClr val="C0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Future Work</a:t>
            </a:r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GB" altLang="en-US"/>
              <a:t>Try different methods to weight the sub-patterns.</a:t>
            </a:r>
            <a:endParaRPr lang="en-GB" altLang="en-US"/>
          </a:p>
          <a:p>
            <a:endParaRPr lang="en-GB" altLang="en-US"/>
          </a:p>
          <a:p>
            <a:r>
              <a:rPr lang="en-GB" altLang="en-US"/>
              <a:t>Try different timeframes.</a:t>
            </a:r>
            <a:endParaRPr lang="en-GB" altLang="en-US"/>
          </a:p>
          <a:p>
            <a:endParaRPr lang="en-GB" altLang="en-US"/>
          </a:p>
          <a:p>
            <a:r>
              <a:rPr lang="en-US" altLang="en-GB"/>
              <a:t>Trinary model (Predict no moves)</a:t>
            </a:r>
            <a:endParaRPr lang="en-GB" altLang="en-US"/>
          </a:p>
          <a:p>
            <a:endParaRPr lang="en-US" altLang="en-US"/>
          </a:p>
          <a:p>
            <a:r>
              <a:rPr lang="en-GB" altLang="en-US"/>
              <a:t>Fractals: Use minute/hourly patterns to predict daily patterns.</a:t>
            </a:r>
            <a:endParaRPr lang="en-GB" altLang="en-US"/>
          </a:p>
          <a:p>
            <a:pPr lvl="3"/>
            <a:endParaRPr lang="en-GB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42130" y="2612390"/>
            <a:ext cx="10515600" cy="1325563"/>
          </a:xfrm>
        </p:spPr>
        <p:txBody>
          <a:bodyPr/>
          <a:p>
            <a:r>
              <a:rPr lang="en-GB" altLang="en-US"/>
              <a:t>Thank You</a:t>
            </a:r>
            <a:endParaRPr lang="en-GB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2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3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4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5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6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7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8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9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10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11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12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13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14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15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16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17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18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19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20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21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22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23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24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25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26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29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30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31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32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33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34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35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36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37.xml><?xml version="1.0" encoding="utf-8"?>
<p:tagLst xmlns:p="http://schemas.openxmlformats.org/presentationml/2006/main">
  <p:tag name="KSO_WM_DIAGRAM_VIRTUALLY_FRAME" val="{&quot;height&quot;:415.8,&quot;left&quot;:552.2,&quot;top&quot;:123.75,&quot;width&quot;:320.9}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4186</Words>
  <Application>WPS Presentation</Application>
  <PresentationFormat>Widescreen</PresentationFormat>
  <Paragraphs>313</Paragraphs>
  <Slides>41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53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Amasis MT Pro Light</vt:lpstr>
      <vt:lpstr>Cambria Math</vt:lpstr>
      <vt:lpstr>MS Mincho</vt:lpstr>
      <vt:lpstr>Segoe Print</vt:lpstr>
      <vt:lpstr>Office Theme</vt:lpstr>
      <vt:lpstr>MCM Directional Strategies</vt:lpstr>
      <vt:lpstr>Predict Piano Next Key</vt:lpstr>
      <vt:lpstr>Predict Piano Next Key</vt:lpstr>
      <vt:lpstr>Apply this to Stocks!</vt:lpstr>
      <vt:lpstr>PowerPoint 演示文稿</vt:lpstr>
      <vt:lpstr>Dummy Case Prediction (Pattern Length 1)</vt:lpstr>
      <vt:lpstr>More Pattern Lengths!</vt:lpstr>
      <vt:lpstr>Longer Pattern Case Prediction </vt:lpstr>
      <vt:lpstr>We Can Also Weight Recent Data</vt:lpstr>
      <vt:lpstr>PowerPoint 演示文稿</vt:lpstr>
      <vt:lpstr>PowerPoint 演示文稿</vt:lpstr>
      <vt:lpstr>Less Overfitted/Better Predictions</vt:lpstr>
      <vt:lpstr>Patterns within Patterns</vt:lpstr>
      <vt:lpstr>Weighted Average - Avoid Overfitting</vt:lpstr>
      <vt:lpstr>Max Pattern Length Stop Condition</vt:lpstr>
      <vt:lpstr>Patterns are Trained on a Rolling Window</vt:lpstr>
      <vt:lpstr>Alright, Let's Start Trading Then</vt:lpstr>
      <vt:lpstr>Trade Conditions</vt:lpstr>
      <vt:lpstr>Trade Threshold</vt:lpstr>
      <vt:lpstr>Trade Threshold = Percentile of Dynamic Predictions</vt:lpstr>
      <vt:lpstr>PowerPoint 演示文稿</vt:lpstr>
      <vt:lpstr>PowerPoint 演示文稿</vt:lpstr>
      <vt:lpstr>PowerPoint 演示文稿</vt:lpstr>
      <vt:lpstr>PowerPoint 演示文稿</vt:lpstr>
      <vt:lpstr>Let’s Add Some Betsizing Before Evaluating</vt:lpstr>
      <vt:lpstr>PowerPoint 演示文稿</vt:lpstr>
      <vt:lpstr>Volatility-Scaled Bet Sizing</vt:lpstr>
      <vt:lpstr>PowerPoint 演示文稿</vt:lpstr>
      <vt:lpstr>Now For Some Performance Evaluation</vt:lpstr>
      <vt:lpstr>PowerPoint 演示文稿</vt:lpstr>
      <vt:lpstr>Effect of Parameters on Performance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Future Work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Christy Bruce</dc:creator>
  <cp:lastModifiedBy>Christy</cp:lastModifiedBy>
  <cp:revision>239</cp:revision>
  <dcterms:created xsi:type="dcterms:W3CDTF">2025-07-23T00:59:00Z</dcterms:created>
  <dcterms:modified xsi:type="dcterms:W3CDTF">2026-02-11T13:22:29Z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1033-12.2.0.23196</vt:lpwstr>
  </property>
</Properties>
</file>