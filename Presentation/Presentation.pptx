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60" r:id="rId5"/>
    <p:sldId id="261" r:id="rId6"/>
    <p:sldId id="265" r:id="rId7"/>
    <p:sldId id="263" r:id="rId8"/>
    <p:sldId id="268" r:id="rId10"/>
    <p:sldId id="271" r:id="rId11"/>
    <p:sldId id="274" r:id="rId12"/>
    <p:sldId id="272" r:id="rId13"/>
    <p:sldId id="270" r:id="rId14"/>
    <p:sldId id="279" r:id="rId15"/>
    <p:sldId id="276" r:id="rId16"/>
    <p:sldId id="278" r:id="rId17"/>
    <p:sldId id="280" r:id="rId18"/>
    <p:sldId id="283" r:id="rId19"/>
    <p:sldId id="277" r:id="rId20"/>
    <p:sldId id="266" r:id="rId21"/>
    <p:sldId id="281" r:id="rId22"/>
    <p:sldId id="282" r:id="rId23"/>
    <p:sldId id="286" r:id="rId24"/>
    <p:sldId id="292" r:id="rId25"/>
    <p:sldId id="293" r:id="rId26"/>
    <p:sldId id="288" r:id="rId27"/>
    <p:sldId id="289" r:id="rId28"/>
    <p:sldId id="29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19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26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2" Type="http://schemas.openxmlformats.org/officeDocument/2006/relationships/notesSlide" Target="../notesSlides/notesSlide1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tags" Target="../tags/tag6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510" y="197485"/>
            <a:ext cx="10515600" cy="1325563"/>
          </a:xfrm>
        </p:spPr>
        <p:txBody>
          <a:bodyPr/>
          <a:p>
            <a:r>
              <a:rPr lang="en-GB" altLang="en-US">
                <a:sym typeface="+mn-ea"/>
              </a:rPr>
              <a:t>Predict Piano </a:t>
            </a:r>
            <a:r>
              <a:rPr lang="en-GB" altLang="en-US">
                <a:sym typeface="+mn-ea"/>
              </a:rPr>
              <a:t>Next Key</a:t>
            </a:r>
            <a:endParaRPr lang="en-GB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28320" y="1377315"/>
            <a:ext cx="5567680" cy="2430145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>
          <a:xfrm>
            <a:off x="3226435" y="3849370"/>
            <a:ext cx="485775" cy="97917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2035810" y="4828540"/>
            <a:ext cx="43192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3600" b="1"/>
              <a:t>010100101010</a:t>
            </a:r>
            <a:endParaRPr lang="en-GB" altLang="en-US" sz="3600" b="1"/>
          </a:p>
          <a:p>
            <a:endParaRPr lang="en-GB" altLang="en-US" sz="3600" b="1"/>
          </a:p>
          <a:p>
            <a:r>
              <a:rPr lang="en-GB" altLang="en-US" sz="2400"/>
              <a:t>1 = Black</a:t>
            </a:r>
            <a:endParaRPr lang="en-GB" altLang="en-US" sz="2400"/>
          </a:p>
          <a:p>
            <a:r>
              <a:rPr lang="en-GB" altLang="en-US" sz="2400"/>
              <a:t>0 = White</a:t>
            </a:r>
            <a:endParaRPr lang="en-GB" altLang="en-US" sz="2400"/>
          </a:p>
        </p:txBody>
      </p:sp>
      <p:grpSp>
        <p:nvGrpSpPr>
          <p:cNvPr id="14" name="Group 13"/>
          <p:cNvGrpSpPr/>
          <p:nvPr>
            <p:custDataLst>
              <p:tags r:id="rId2"/>
            </p:custDataLst>
          </p:nvPr>
        </p:nvGrpSpPr>
        <p:grpSpPr>
          <a:xfrm>
            <a:off x="7466965" y="1571625"/>
            <a:ext cx="2649220" cy="2158365"/>
            <a:chOff x="12061" y="3399"/>
            <a:chExt cx="4172" cy="3399"/>
          </a:xfrm>
        </p:grpSpPr>
        <p:cxnSp>
          <p:nvCxnSpPr>
            <p:cNvPr id="8" name="Straight Connector 7"/>
            <p:cNvCxnSpPr/>
            <p:nvPr>
              <p:custDataLst>
                <p:tags r:id="rId3"/>
              </p:custDataLst>
            </p:nvPr>
          </p:nvCxnSpPr>
          <p:spPr>
            <a:xfrm flipV="1">
              <a:off x="12467" y="3399"/>
              <a:ext cx="1610" cy="2327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>
              <p:custDataLst>
                <p:tags r:id="rId4"/>
              </p:custDataLst>
            </p:nvPr>
          </p:nvCxnSpPr>
          <p:spPr>
            <a:xfrm flipH="1" flipV="1">
              <a:off x="14086" y="3427"/>
              <a:ext cx="1762" cy="2355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Text Box 9"/>
            <p:cNvSpPr txBox="1"/>
            <p:nvPr>
              <p:custDataLst>
                <p:tags r:id="rId5"/>
              </p:custDataLst>
            </p:nvPr>
          </p:nvSpPr>
          <p:spPr>
            <a:xfrm>
              <a:off x="12061" y="5726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0</a:t>
              </a:r>
              <a:endParaRPr lang="en-GB" altLang="en-US" sz="2400"/>
            </a:p>
          </p:txBody>
        </p:sp>
        <p:sp>
          <p:nvSpPr>
            <p:cNvPr id="11" name="Text Box 10"/>
            <p:cNvSpPr txBox="1"/>
            <p:nvPr>
              <p:custDataLst>
                <p:tags r:id="rId6"/>
              </p:custDataLst>
            </p:nvPr>
          </p:nvSpPr>
          <p:spPr>
            <a:xfrm>
              <a:off x="15539" y="5782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1</a:t>
              </a:r>
              <a:endParaRPr lang="en-GB" altLang="en-US" sz="2400"/>
            </a:p>
          </p:txBody>
        </p:sp>
      </p:grpSp>
      <p:sp>
        <p:nvSpPr>
          <p:cNvPr id="12" name="Text Box 11"/>
          <p:cNvSpPr txBox="1"/>
          <p:nvPr>
            <p:custDataLst>
              <p:tags r:id="rId7"/>
            </p:custDataLst>
          </p:nvPr>
        </p:nvSpPr>
        <p:spPr>
          <a:xfrm>
            <a:off x="7318375" y="3550285"/>
            <a:ext cx="13487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400"/>
              <a:t>7/12 (</a:t>
            </a:r>
            <a:r>
              <a:rPr lang="en-GB" altLang="en-US" sz="2400">
                <a:sym typeface="+mn-ea"/>
              </a:rPr>
              <a:t>58%)</a:t>
            </a:r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</p:txBody>
      </p:sp>
      <p:sp>
        <p:nvSpPr>
          <p:cNvPr id="13" name="Text Box 12"/>
          <p:cNvSpPr txBox="1"/>
          <p:nvPr>
            <p:custDataLst>
              <p:tags r:id="rId8"/>
            </p:custDataLst>
          </p:nvPr>
        </p:nvSpPr>
        <p:spPr>
          <a:xfrm>
            <a:off x="9516110" y="3590925"/>
            <a:ext cx="13487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400"/>
              <a:t>5/12 (42</a:t>
            </a:r>
            <a:r>
              <a:rPr lang="en-GB" altLang="en-US" sz="2400">
                <a:sym typeface="+mn-ea"/>
              </a:rPr>
              <a:t>%)</a:t>
            </a:r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510" y="161290"/>
            <a:ext cx="10515600" cy="1325563"/>
          </a:xfrm>
        </p:spPr>
        <p:txBody>
          <a:bodyPr/>
          <a:p>
            <a:r>
              <a:rPr lang="en-GB" altLang="en-US"/>
              <a:t>Predict Piano </a:t>
            </a:r>
            <a:r>
              <a:rPr lang="en-GB" altLang="en-US">
                <a:sym typeface="+mn-ea"/>
              </a:rPr>
              <a:t>Next Key</a:t>
            </a:r>
            <a:endParaRPr lang="en-GB" altLang="en-US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528320" y="1377315"/>
            <a:ext cx="5567680" cy="2430145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>
          <a:xfrm>
            <a:off x="3226435" y="3849370"/>
            <a:ext cx="485775" cy="979170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2035810" y="4828540"/>
            <a:ext cx="43192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3600" b="1"/>
              <a:t>010100101010</a:t>
            </a:r>
            <a:endParaRPr lang="en-GB" altLang="en-US" sz="3600" b="1"/>
          </a:p>
          <a:p>
            <a:endParaRPr lang="en-GB" altLang="en-US" sz="3600" b="1"/>
          </a:p>
          <a:p>
            <a:r>
              <a:rPr lang="en-GB" altLang="en-US" sz="2400"/>
              <a:t>1 = Black</a:t>
            </a:r>
            <a:endParaRPr lang="en-GB" altLang="en-US" sz="2400"/>
          </a:p>
          <a:p>
            <a:r>
              <a:rPr lang="en-GB" altLang="en-US" sz="2400"/>
              <a:t>0 = White</a:t>
            </a:r>
            <a:endParaRPr lang="en-GB" altLang="en-US" sz="2400"/>
          </a:p>
        </p:txBody>
      </p:sp>
      <p:grpSp>
        <p:nvGrpSpPr>
          <p:cNvPr id="14" name="Group 13"/>
          <p:cNvGrpSpPr/>
          <p:nvPr>
            <p:custDataLst>
              <p:tags r:id="rId2"/>
            </p:custDataLst>
          </p:nvPr>
        </p:nvGrpSpPr>
        <p:grpSpPr>
          <a:xfrm>
            <a:off x="7466965" y="1571625"/>
            <a:ext cx="2649220" cy="2158365"/>
            <a:chOff x="12061" y="3399"/>
            <a:chExt cx="4172" cy="3399"/>
          </a:xfrm>
        </p:grpSpPr>
        <p:cxnSp>
          <p:nvCxnSpPr>
            <p:cNvPr id="8" name="Straight Connector 7"/>
            <p:cNvCxnSpPr/>
            <p:nvPr>
              <p:custDataLst>
                <p:tags r:id="rId3"/>
              </p:custDataLst>
            </p:nvPr>
          </p:nvCxnSpPr>
          <p:spPr>
            <a:xfrm flipV="1">
              <a:off x="12467" y="3399"/>
              <a:ext cx="1610" cy="2327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>
              <p:custDataLst>
                <p:tags r:id="rId4"/>
              </p:custDataLst>
            </p:nvPr>
          </p:nvCxnSpPr>
          <p:spPr>
            <a:xfrm flipH="1" flipV="1">
              <a:off x="14086" y="3427"/>
              <a:ext cx="1762" cy="2355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Text Box 9"/>
            <p:cNvSpPr txBox="1"/>
            <p:nvPr>
              <p:custDataLst>
                <p:tags r:id="rId5"/>
              </p:custDataLst>
            </p:nvPr>
          </p:nvSpPr>
          <p:spPr>
            <a:xfrm>
              <a:off x="12061" y="5726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0</a:t>
              </a:r>
              <a:endParaRPr lang="en-GB" altLang="en-US" sz="2400"/>
            </a:p>
          </p:txBody>
        </p:sp>
        <p:sp>
          <p:nvSpPr>
            <p:cNvPr id="11" name="Text Box 10"/>
            <p:cNvSpPr txBox="1"/>
            <p:nvPr>
              <p:custDataLst>
                <p:tags r:id="rId6"/>
              </p:custDataLst>
            </p:nvPr>
          </p:nvSpPr>
          <p:spPr>
            <a:xfrm>
              <a:off x="15539" y="5782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1</a:t>
              </a:r>
              <a:endParaRPr lang="en-GB" altLang="en-US" sz="2400"/>
            </a:p>
          </p:txBody>
        </p:sp>
      </p:grpSp>
      <p:grpSp>
        <p:nvGrpSpPr>
          <p:cNvPr id="3" name="Group 2"/>
          <p:cNvGrpSpPr/>
          <p:nvPr>
            <p:custDataLst>
              <p:tags r:id="rId7"/>
            </p:custDataLst>
          </p:nvPr>
        </p:nvGrpSpPr>
        <p:grpSpPr>
          <a:xfrm>
            <a:off x="5985510" y="3718560"/>
            <a:ext cx="2649220" cy="2158365"/>
            <a:chOff x="12061" y="3399"/>
            <a:chExt cx="4172" cy="3399"/>
          </a:xfrm>
        </p:grpSpPr>
        <p:cxnSp>
          <p:nvCxnSpPr>
            <p:cNvPr id="5" name="Straight Connector 4"/>
            <p:cNvCxnSpPr/>
            <p:nvPr>
              <p:custDataLst>
                <p:tags r:id="rId8"/>
              </p:custDataLst>
            </p:nvPr>
          </p:nvCxnSpPr>
          <p:spPr>
            <a:xfrm flipV="1">
              <a:off x="12467" y="3399"/>
              <a:ext cx="1610" cy="2327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>
              <p:custDataLst>
                <p:tags r:id="rId9"/>
              </p:custDataLst>
            </p:nvPr>
          </p:nvCxnSpPr>
          <p:spPr>
            <a:xfrm flipH="1" flipV="1">
              <a:off x="14086" y="3427"/>
              <a:ext cx="1762" cy="2355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6" name="Text Box 15"/>
            <p:cNvSpPr txBox="1"/>
            <p:nvPr>
              <p:custDataLst>
                <p:tags r:id="rId10"/>
              </p:custDataLst>
            </p:nvPr>
          </p:nvSpPr>
          <p:spPr>
            <a:xfrm>
              <a:off x="12061" y="5726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0</a:t>
              </a:r>
              <a:endParaRPr lang="en-GB" altLang="en-US" sz="2400"/>
            </a:p>
          </p:txBody>
        </p:sp>
        <p:sp>
          <p:nvSpPr>
            <p:cNvPr id="17" name="Text Box 16"/>
            <p:cNvSpPr txBox="1"/>
            <p:nvPr>
              <p:custDataLst>
                <p:tags r:id="rId11"/>
              </p:custDataLst>
            </p:nvPr>
          </p:nvSpPr>
          <p:spPr>
            <a:xfrm>
              <a:off x="15539" y="5782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1</a:t>
              </a:r>
              <a:endParaRPr lang="en-GB" altLang="en-US" sz="2400"/>
            </a:p>
          </p:txBody>
        </p:sp>
      </p:grpSp>
      <p:grpSp>
        <p:nvGrpSpPr>
          <p:cNvPr id="18" name="Group 17"/>
          <p:cNvGrpSpPr/>
          <p:nvPr>
            <p:custDataLst>
              <p:tags r:id="rId12"/>
            </p:custDataLst>
          </p:nvPr>
        </p:nvGrpSpPr>
        <p:grpSpPr>
          <a:xfrm>
            <a:off x="9116695" y="3754120"/>
            <a:ext cx="2649220" cy="2158365"/>
            <a:chOff x="12061" y="3399"/>
            <a:chExt cx="4172" cy="3399"/>
          </a:xfrm>
        </p:grpSpPr>
        <p:cxnSp>
          <p:nvCxnSpPr>
            <p:cNvPr id="19" name="Straight Connector 18"/>
            <p:cNvCxnSpPr/>
            <p:nvPr>
              <p:custDataLst>
                <p:tags r:id="rId13"/>
              </p:custDataLst>
            </p:nvPr>
          </p:nvCxnSpPr>
          <p:spPr>
            <a:xfrm flipV="1">
              <a:off x="12467" y="3399"/>
              <a:ext cx="1610" cy="2327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>
              <p:custDataLst>
                <p:tags r:id="rId14"/>
              </p:custDataLst>
            </p:nvPr>
          </p:nvCxnSpPr>
          <p:spPr>
            <a:xfrm flipH="1" flipV="1">
              <a:off x="14086" y="3427"/>
              <a:ext cx="1762" cy="2355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Text Box 20"/>
            <p:cNvSpPr txBox="1"/>
            <p:nvPr>
              <p:custDataLst>
                <p:tags r:id="rId15"/>
              </p:custDataLst>
            </p:nvPr>
          </p:nvSpPr>
          <p:spPr>
            <a:xfrm>
              <a:off x="12061" y="5726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0</a:t>
              </a:r>
              <a:endParaRPr lang="en-GB" altLang="en-US" sz="2400"/>
            </a:p>
          </p:txBody>
        </p:sp>
        <p:sp>
          <p:nvSpPr>
            <p:cNvPr id="22" name="Text Box 21"/>
            <p:cNvSpPr txBox="1"/>
            <p:nvPr>
              <p:custDataLst>
                <p:tags r:id="rId16"/>
              </p:custDataLst>
            </p:nvPr>
          </p:nvSpPr>
          <p:spPr>
            <a:xfrm>
              <a:off x="15539" y="5782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1</a:t>
              </a:r>
              <a:endParaRPr lang="en-GB" altLang="en-US" sz="2400"/>
            </a:p>
          </p:txBody>
        </p:sp>
      </p:grpSp>
      <p:sp>
        <p:nvSpPr>
          <p:cNvPr id="23" name="Text Box 22"/>
          <p:cNvSpPr txBox="1"/>
          <p:nvPr>
            <p:custDataLst>
              <p:tags r:id="rId17"/>
            </p:custDataLst>
          </p:nvPr>
        </p:nvSpPr>
        <p:spPr>
          <a:xfrm>
            <a:off x="5819140" y="5691505"/>
            <a:ext cx="13487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400"/>
              <a:t>1/7 (14</a:t>
            </a:r>
            <a:r>
              <a:rPr lang="en-GB" altLang="en-US" sz="2400">
                <a:sym typeface="+mn-ea"/>
              </a:rPr>
              <a:t>%)</a:t>
            </a:r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</p:txBody>
      </p:sp>
      <p:sp>
        <p:nvSpPr>
          <p:cNvPr id="24" name="Text Box 23"/>
          <p:cNvSpPr txBox="1"/>
          <p:nvPr>
            <p:custDataLst>
              <p:tags r:id="rId18"/>
            </p:custDataLst>
          </p:nvPr>
        </p:nvSpPr>
        <p:spPr>
          <a:xfrm>
            <a:off x="7973695" y="5763260"/>
            <a:ext cx="13487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400"/>
              <a:t>6/7 (86</a:t>
            </a:r>
            <a:r>
              <a:rPr lang="en-GB" altLang="en-US" sz="2400">
                <a:sym typeface="+mn-ea"/>
              </a:rPr>
              <a:t>%)</a:t>
            </a:r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</p:txBody>
      </p:sp>
      <p:sp>
        <p:nvSpPr>
          <p:cNvPr id="25" name="Text Box 24"/>
          <p:cNvSpPr txBox="1"/>
          <p:nvPr>
            <p:custDataLst>
              <p:tags r:id="rId19"/>
            </p:custDataLst>
          </p:nvPr>
        </p:nvSpPr>
        <p:spPr>
          <a:xfrm>
            <a:off x="9034145" y="5763260"/>
            <a:ext cx="12268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400"/>
              <a:t>5/5 (100</a:t>
            </a:r>
            <a:r>
              <a:rPr lang="en-GB" altLang="en-US" sz="2400">
                <a:sym typeface="+mn-ea"/>
              </a:rPr>
              <a:t>%)</a:t>
            </a:r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</p:txBody>
      </p:sp>
      <p:sp>
        <p:nvSpPr>
          <p:cNvPr id="26" name="Text Box 25"/>
          <p:cNvSpPr txBox="1"/>
          <p:nvPr>
            <p:custDataLst>
              <p:tags r:id="rId20"/>
            </p:custDataLst>
          </p:nvPr>
        </p:nvSpPr>
        <p:spPr>
          <a:xfrm>
            <a:off x="11245850" y="5763260"/>
            <a:ext cx="1226820" cy="854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2400"/>
              <a:t>0/5 (0</a:t>
            </a:r>
            <a:r>
              <a:rPr lang="en-GB" altLang="en-US" sz="2400">
                <a:sym typeface="+mn-ea"/>
              </a:rPr>
              <a:t>%)</a:t>
            </a:r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  <a:p>
            <a:endParaRPr lang="en-GB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b="7610"/>
          <a:stretch>
            <a:fillRect/>
          </a:stretch>
        </p:blipFill>
        <p:spPr>
          <a:xfrm>
            <a:off x="3622040" y="784860"/>
            <a:ext cx="8569960" cy="58972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1755"/>
            <a:ext cx="10515600" cy="1325563"/>
          </a:xfrm>
        </p:spPr>
        <p:txBody>
          <a:bodyPr/>
          <a:p>
            <a:r>
              <a:rPr lang="en-GB" altLang="en-US"/>
              <a:t>Apply this to Stocks!</a:t>
            </a:r>
            <a:endParaRPr lang="en-GB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403860" y="3013075"/>
            <a:ext cx="40640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800"/>
              <a:t>Every Day:</a:t>
            </a:r>
            <a:endParaRPr lang="en-GB" altLang="en-US" sz="2800"/>
          </a:p>
          <a:p>
            <a:endParaRPr lang="en-GB" altLang="en-US" sz="2800"/>
          </a:p>
          <a:p>
            <a:r>
              <a:rPr lang="en-GB" altLang="en-US" sz="2800"/>
              <a:t>Stock Up = “1”</a:t>
            </a:r>
            <a:endParaRPr lang="en-GB" altLang="en-US" sz="2800"/>
          </a:p>
          <a:p>
            <a:endParaRPr lang="en-GB" altLang="en-US" sz="2800"/>
          </a:p>
          <a:p>
            <a:r>
              <a:rPr lang="en-GB" altLang="en-US" sz="2800"/>
              <a:t>Stock Down = “0”</a:t>
            </a:r>
            <a:endParaRPr lang="en-GB" altLang="en-US"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432560" y="2642870"/>
            <a:ext cx="855980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400"/>
              <a:t>1001010111110100001010111010101001001001010101010101010101010101001000000000011101011010110010101010000000000001111111111111111110101000000000000001010101111111111101001001010110100000101010010101010010101001010110101001010100101101010100101010......</a:t>
            </a:r>
            <a:endParaRPr lang="en-GB" altLang="en-US" sz="2400"/>
          </a:p>
        </p:txBody>
      </p:sp>
      <p:sp>
        <p:nvSpPr>
          <p:cNvPr id="5" name="Text Box 4"/>
          <p:cNvSpPr txBox="1"/>
          <p:nvPr/>
        </p:nvSpPr>
        <p:spPr>
          <a:xfrm>
            <a:off x="1490980" y="139636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400"/>
              <a:t>We get...</a:t>
            </a:r>
            <a:endParaRPr lang="en-GB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1910"/>
            <a:ext cx="10515600" cy="1325563"/>
          </a:xfrm>
        </p:spPr>
        <p:txBody>
          <a:bodyPr/>
          <a:p>
            <a:r>
              <a:rPr lang="en-GB" altLang="en-US"/>
              <a:t>Dummy Case Prediction (Patten Length 1)</a:t>
            </a:r>
            <a:endParaRPr lang="en-GB" altLang="en-US"/>
          </a:p>
        </p:txBody>
      </p:sp>
      <p:grpSp>
        <p:nvGrpSpPr>
          <p:cNvPr id="14" name="Group 13"/>
          <p:cNvGrpSpPr/>
          <p:nvPr>
            <p:custDataLst>
              <p:tags r:id="rId1"/>
            </p:custDataLst>
          </p:nvPr>
        </p:nvGrpSpPr>
        <p:grpSpPr>
          <a:xfrm>
            <a:off x="1757045" y="2313305"/>
            <a:ext cx="2649220" cy="2158365"/>
            <a:chOff x="12061" y="3399"/>
            <a:chExt cx="4172" cy="3399"/>
          </a:xfrm>
        </p:grpSpPr>
        <p:cxnSp>
          <p:nvCxnSpPr>
            <p:cNvPr id="8" name="Straight Connector 7"/>
            <p:cNvCxnSpPr/>
            <p:nvPr>
              <p:custDataLst>
                <p:tags r:id="rId2"/>
              </p:custDataLst>
            </p:nvPr>
          </p:nvCxnSpPr>
          <p:spPr>
            <a:xfrm flipV="1">
              <a:off x="12467" y="3399"/>
              <a:ext cx="1610" cy="2327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>
              <p:custDataLst>
                <p:tags r:id="rId3"/>
              </p:custDataLst>
            </p:nvPr>
          </p:nvCxnSpPr>
          <p:spPr>
            <a:xfrm flipH="1" flipV="1">
              <a:off x="14086" y="3427"/>
              <a:ext cx="1762" cy="2355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" name="Text Box 9"/>
            <p:cNvSpPr txBox="1"/>
            <p:nvPr>
              <p:custDataLst>
                <p:tags r:id="rId4"/>
              </p:custDataLst>
            </p:nvPr>
          </p:nvSpPr>
          <p:spPr>
            <a:xfrm>
              <a:off x="12061" y="5726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0</a:t>
              </a:r>
              <a:endParaRPr lang="en-GB" altLang="en-US" sz="2400"/>
            </a:p>
          </p:txBody>
        </p:sp>
        <p:sp>
          <p:nvSpPr>
            <p:cNvPr id="11" name="Text Box 10"/>
            <p:cNvSpPr txBox="1"/>
            <p:nvPr>
              <p:custDataLst>
                <p:tags r:id="rId5"/>
              </p:custDataLst>
            </p:nvPr>
          </p:nvSpPr>
          <p:spPr>
            <a:xfrm>
              <a:off x="15539" y="5782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1</a:t>
              </a:r>
              <a:endParaRPr lang="en-GB" altLang="en-US" sz="2400"/>
            </a:p>
          </p:txBody>
        </p:sp>
      </p:grp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566545" y="4436110"/>
            <a:ext cx="1005205" cy="641985"/>
          </a:xfrm>
        </p:spPr>
        <p:txBody>
          <a:bodyPr/>
          <a:p>
            <a:pPr marL="0" indent="0">
              <a:buNone/>
            </a:pPr>
            <a:r>
              <a:rPr lang="en-GB" altLang="en-US" sz="2400"/>
              <a:t>42%</a:t>
            </a: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  <p:sp>
        <p:nvSpPr>
          <p:cNvPr id="5" name="Content Placeholder 3"/>
          <p:cNvSpPr>
            <a:spLocks noGrp="1"/>
          </p:cNvSpPr>
          <p:nvPr/>
        </p:nvSpPr>
        <p:spPr>
          <a:xfrm>
            <a:off x="3844925" y="4436110"/>
            <a:ext cx="1005205" cy="641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2400"/>
              <a:t>58%</a:t>
            </a: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  <p:grpSp>
        <p:nvGrpSpPr>
          <p:cNvPr id="6" name="Group 5"/>
          <p:cNvGrpSpPr/>
          <p:nvPr>
            <p:custDataLst>
              <p:tags r:id="rId6"/>
            </p:custDataLst>
          </p:nvPr>
        </p:nvGrpSpPr>
        <p:grpSpPr>
          <a:xfrm>
            <a:off x="7528560" y="2354580"/>
            <a:ext cx="2649220" cy="2158365"/>
            <a:chOff x="12061" y="3399"/>
            <a:chExt cx="4172" cy="3399"/>
          </a:xfrm>
        </p:grpSpPr>
        <p:cxnSp>
          <p:nvCxnSpPr>
            <p:cNvPr id="7" name="Straight Connector 6"/>
            <p:cNvCxnSpPr/>
            <p:nvPr>
              <p:custDataLst>
                <p:tags r:id="rId7"/>
              </p:custDataLst>
            </p:nvPr>
          </p:nvCxnSpPr>
          <p:spPr>
            <a:xfrm flipV="1">
              <a:off x="12467" y="3399"/>
              <a:ext cx="1610" cy="2327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>
              <p:custDataLst>
                <p:tags r:id="rId8"/>
              </p:custDataLst>
            </p:nvPr>
          </p:nvCxnSpPr>
          <p:spPr>
            <a:xfrm flipH="1" flipV="1">
              <a:off x="14086" y="3427"/>
              <a:ext cx="1762" cy="2355"/>
            </a:xfrm>
            <a:prstGeom prst="lin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Text Box 12"/>
            <p:cNvSpPr txBox="1"/>
            <p:nvPr>
              <p:custDataLst>
                <p:tags r:id="rId9"/>
              </p:custDataLst>
            </p:nvPr>
          </p:nvSpPr>
          <p:spPr>
            <a:xfrm>
              <a:off x="12061" y="5726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0</a:t>
              </a:r>
              <a:endParaRPr lang="en-GB" altLang="en-US" sz="2400"/>
            </a:p>
          </p:txBody>
        </p:sp>
        <p:sp>
          <p:nvSpPr>
            <p:cNvPr id="15" name="Text Box 14"/>
            <p:cNvSpPr txBox="1"/>
            <p:nvPr>
              <p:custDataLst>
                <p:tags r:id="rId10"/>
              </p:custDataLst>
            </p:nvPr>
          </p:nvSpPr>
          <p:spPr>
            <a:xfrm>
              <a:off x="15539" y="5782"/>
              <a:ext cx="69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GB" altLang="en-US" sz="3600" b="1"/>
                <a:t>1</a:t>
              </a:r>
              <a:endParaRPr lang="en-GB" altLang="en-US" sz="2400"/>
            </a:p>
          </p:txBody>
        </p:sp>
      </p:grpSp>
      <p:sp>
        <p:nvSpPr>
          <p:cNvPr id="16" name="Content Placeholder 3"/>
          <p:cNvSpPr>
            <a:spLocks noGrp="1"/>
          </p:cNvSpPr>
          <p:nvPr/>
        </p:nvSpPr>
        <p:spPr>
          <a:xfrm>
            <a:off x="7214235" y="4429125"/>
            <a:ext cx="1360805" cy="1420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2400"/>
              <a:t>-1.3%</a:t>
            </a:r>
            <a:endParaRPr lang="en-GB" altLang="en-US" sz="2400"/>
          </a:p>
          <a:p>
            <a:pPr marL="0" indent="0">
              <a:buNone/>
            </a:pPr>
            <a:r>
              <a:rPr lang="en-GB" altLang="en-US" sz="2400"/>
              <a:t> </a:t>
            </a: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  <p:sp>
        <p:nvSpPr>
          <p:cNvPr id="17" name="Content Placeholder 3"/>
          <p:cNvSpPr>
            <a:spLocks noGrp="1"/>
          </p:cNvSpPr>
          <p:nvPr/>
        </p:nvSpPr>
        <p:spPr>
          <a:xfrm>
            <a:off x="9737090" y="4429125"/>
            <a:ext cx="1341755" cy="1106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2400"/>
              <a:t>1.1% </a:t>
            </a:r>
            <a:endParaRPr lang="en-GB" altLang="en-US" sz="2400"/>
          </a:p>
          <a:p>
            <a:pPr marL="0" indent="0">
              <a:buNone/>
            </a:pPr>
            <a:r>
              <a:rPr lang="en-GB" altLang="en-US" sz="2400"/>
              <a:t> </a:t>
            </a: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  <p:sp>
        <p:nvSpPr>
          <p:cNvPr id="18" name="Content Placeholder 3"/>
          <p:cNvSpPr>
            <a:spLocks noGrp="1"/>
          </p:cNvSpPr>
          <p:nvPr/>
        </p:nvSpPr>
        <p:spPr>
          <a:xfrm>
            <a:off x="2237740" y="1528445"/>
            <a:ext cx="1607185" cy="641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2400"/>
              <a:t>Probability</a:t>
            </a: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  <p:sp>
        <p:nvSpPr>
          <p:cNvPr id="19" name="Content Placeholder 3"/>
          <p:cNvSpPr>
            <a:spLocks noGrp="1"/>
          </p:cNvSpPr>
          <p:nvPr/>
        </p:nvSpPr>
        <p:spPr>
          <a:xfrm>
            <a:off x="7374890" y="1539875"/>
            <a:ext cx="2802890" cy="641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2400"/>
              <a:t>Average Stock Move</a:t>
            </a:r>
            <a:endParaRPr lang="en-GB" altLang="en-US" sz="2400"/>
          </a:p>
          <a:p>
            <a:pPr marL="0" indent="0">
              <a:buNone/>
            </a:pPr>
            <a:endParaRPr lang="en-GB" altLang="en-US" sz="2400"/>
          </a:p>
        </p:txBody>
      </p:sp>
      <p:sp>
        <p:nvSpPr>
          <p:cNvPr id="21" name="Content Placeholder 2"/>
          <p:cNvSpPr>
            <a:spLocks noGrp="1"/>
          </p:cNvSpPr>
          <p:nvPr/>
        </p:nvSpPr>
        <p:spPr>
          <a:xfrm>
            <a:off x="223520" y="5281295"/>
            <a:ext cx="11830050" cy="480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2400"/>
              <a:t>E(Return) = Average Move Up * (Probability Up) + </a:t>
            </a:r>
            <a:r>
              <a:rPr lang="en-GB" altLang="en-US" sz="2400">
                <a:sym typeface="+mn-ea"/>
              </a:rPr>
              <a:t>Average Move Down * (Probability Down)</a:t>
            </a:r>
            <a:endParaRPr lang="en-GB" altLang="en-US" sz="2400"/>
          </a:p>
          <a:p>
            <a:endParaRPr lang="en-GB" altLang="en-US" sz="2400"/>
          </a:p>
        </p:txBody>
      </p:sp>
      <p:sp>
        <p:nvSpPr>
          <p:cNvPr id="22" name="Content Placeholder 2"/>
          <p:cNvSpPr>
            <a:spLocks noGrp="1"/>
          </p:cNvSpPr>
          <p:nvPr/>
        </p:nvSpPr>
        <p:spPr>
          <a:xfrm>
            <a:off x="1514475" y="5965190"/>
            <a:ext cx="11830050" cy="480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2000"/>
              <a:t>= (0.9) * (0.58) + </a:t>
            </a:r>
            <a:r>
              <a:rPr lang="en-GB" altLang="en-US" sz="2000">
                <a:sym typeface="+mn-ea"/>
              </a:rPr>
              <a:t>(-1.3) * (0.42)</a:t>
            </a:r>
            <a:endParaRPr lang="en-GB" altLang="en-US" sz="2000"/>
          </a:p>
          <a:p>
            <a:endParaRPr lang="en-GB" altLang="en-US" sz="2000"/>
          </a:p>
        </p:txBody>
      </p:sp>
      <p:sp>
        <p:nvSpPr>
          <p:cNvPr id="24" name="Rounded Rectangle 23"/>
          <p:cNvSpPr/>
          <p:nvPr/>
        </p:nvSpPr>
        <p:spPr>
          <a:xfrm>
            <a:off x="285115" y="5210175"/>
            <a:ext cx="11443970" cy="62293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Content Placeholder 2"/>
          <p:cNvSpPr>
            <a:spLocks noGrp="1"/>
          </p:cNvSpPr>
          <p:nvPr/>
        </p:nvSpPr>
        <p:spPr>
          <a:xfrm>
            <a:off x="1514475" y="6261100"/>
            <a:ext cx="11830050" cy="480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 sz="2000"/>
              <a:t>= 0.092%</a:t>
            </a:r>
            <a:r>
              <a:rPr lang="en-GB" altLang="en-US" sz="2400"/>
              <a:t> </a:t>
            </a:r>
            <a:endParaRPr lang="en-GB" altLang="en-US" sz="2400"/>
          </a:p>
          <a:p>
            <a:endParaRPr lang="en-GB" altLang="en-US"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>
                <a:sym typeface="+mn-ea"/>
              </a:rPr>
              <a:t>More Pattern Lengths!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12408"/>
          <a:stretch>
            <a:fillRect/>
          </a:stretch>
        </p:blipFill>
        <p:spPr>
          <a:xfrm>
            <a:off x="0" y="1923415"/>
            <a:ext cx="7889240" cy="428879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846695" y="1958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Do the same for longer patterns..</a:t>
            </a:r>
            <a:endParaRPr lang="en-GB" alt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0" y="3302000"/>
            <a:ext cx="4221480" cy="13900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2580" y="5005070"/>
            <a:ext cx="4089400" cy="1393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5330" y="2995930"/>
            <a:ext cx="8104505" cy="55689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GB" altLang="en-US"/>
              <a:t>Predicted Return if 111010: 0.86%</a:t>
            </a:r>
            <a:endParaRPr lang="en-GB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2960" y="2644775"/>
            <a:ext cx="10515600" cy="1325563"/>
          </a:xfrm>
        </p:spPr>
        <p:txBody>
          <a:bodyPr/>
          <a:p>
            <a:r>
              <a:rPr lang="en-GB" altLang="en-US"/>
              <a:t>We Can also Weight Recent Data</a:t>
            </a:r>
            <a:endParaRPr lang="en-GB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120140" y="86804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100101</a:t>
            </a:r>
            <a:r>
              <a:rPr lang="en-GB" altLang="en-US" sz="2400">
                <a:sym typeface="+mn-ea"/>
              </a:rPr>
              <a:t>011111010000101011101010...</a:t>
            </a:r>
            <a:endParaRPr lang="en-GB" altLang="en-US" sz="2400">
              <a:sym typeface="+mn-ea"/>
            </a:endParaRPr>
          </a:p>
        </p:txBody>
      </p:sp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1209040" y="22358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olidFill>
                  <a:schemeClr val="tx1"/>
                </a:solidFill>
                <a:sym typeface="+mn-ea"/>
              </a:rPr>
              <a:t>1</a:t>
            </a:r>
            <a:r>
              <a:rPr lang="en-GB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001010</a:t>
            </a:r>
            <a:r>
              <a:rPr lang="en-GB" altLang="en-US" sz="2400">
                <a:sym typeface="+mn-ea"/>
              </a:rPr>
              <a:t>11111010000101011101010...</a:t>
            </a:r>
            <a:endParaRPr lang="en-GB" altLang="en-US" sz="2400">
              <a:sym typeface="+mn-ea"/>
            </a:endParaRPr>
          </a:p>
        </p:txBody>
      </p:sp>
      <p:sp>
        <p:nvSpPr>
          <p:cNvPr id="6" name="Text Box 5"/>
          <p:cNvSpPr txBox="1"/>
          <p:nvPr>
            <p:custDataLst>
              <p:tags r:id="rId2"/>
            </p:custDataLst>
          </p:nvPr>
        </p:nvSpPr>
        <p:spPr>
          <a:xfrm>
            <a:off x="1288415" y="33635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olidFill>
                  <a:schemeClr val="tx1"/>
                </a:solidFill>
                <a:sym typeface="+mn-ea"/>
              </a:rPr>
              <a:t>10</a:t>
            </a:r>
            <a:r>
              <a:rPr lang="en-GB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010101</a:t>
            </a:r>
            <a:r>
              <a:rPr lang="en-GB" altLang="en-US" sz="2400">
                <a:sym typeface="+mn-ea"/>
              </a:rPr>
              <a:t>1111010000101011101010...</a:t>
            </a:r>
            <a:endParaRPr lang="en-GB" altLang="en-US" sz="2400">
              <a:sym typeface="+mn-ea"/>
            </a:endParaRPr>
          </a:p>
        </p:txBody>
      </p:sp>
      <p:sp>
        <p:nvSpPr>
          <p:cNvPr id="7" name="Text Box 6"/>
          <p:cNvSpPr txBox="1"/>
          <p:nvPr>
            <p:custDataLst>
              <p:tags r:id="rId3"/>
            </p:custDataLst>
          </p:nvPr>
        </p:nvSpPr>
        <p:spPr>
          <a:xfrm>
            <a:off x="1288415" y="46139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olidFill>
                  <a:schemeClr val="tx1"/>
                </a:solidFill>
                <a:sym typeface="+mn-ea"/>
              </a:rPr>
              <a:t>10</a:t>
            </a:r>
            <a:r>
              <a:rPr lang="en-GB" altLang="en-US" sz="24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sym typeface="+mn-ea"/>
              </a:rPr>
              <a:t>0</a:t>
            </a:r>
            <a:r>
              <a:rPr lang="en-GB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101011</a:t>
            </a:r>
            <a:r>
              <a:rPr lang="en-GB" altLang="en-US" sz="2400">
                <a:sym typeface="+mn-ea"/>
              </a:rPr>
              <a:t>111010000101011101010...</a:t>
            </a:r>
            <a:endParaRPr lang="en-GB" altLang="en-US" sz="2400">
              <a:sym typeface="+mn-ea"/>
            </a:endParaRPr>
          </a:p>
        </p:txBody>
      </p:sp>
      <p:sp>
        <p:nvSpPr>
          <p:cNvPr id="8" name="Text Box 7"/>
          <p:cNvSpPr txBox="1"/>
          <p:nvPr>
            <p:custDataLst>
              <p:tags r:id="rId4"/>
            </p:custDataLst>
          </p:nvPr>
        </p:nvSpPr>
        <p:spPr>
          <a:xfrm>
            <a:off x="1377950" y="585914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olidFill>
                  <a:schemeClr val="tx1"/>
                </a:solidFill>
                <a:sym typeface="+mn-ea"/>
              </a:rPr>
              <a:t>10</a:t>
            </a:r>
            <a:r>
              <a:rPr lang="en-GB" altLang="en-US" sz="24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sym typeface="+mn-ea"/>
              </a:rPr>
              <a:t>01</a:t>
            </a:r>
            <a:r>
              <a:rPr lang="en-GB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010111</a:t>
            </a:r>
            <a:r>
              <a:rPr lang="en-GB" altLang="en-US" sz="2400">
                <a:sym typeface="+mn-ea"/>
              </a:rPr>
              <a:t>11010000101011101010...</a:t>
            </a:r>
            <a:endParaRPr lang="en-GB" altLang="en-US" sz="2400">
              <a:sym typeface="+mn-ea"/>
            </a:endParaRPr>
          </a:p>
        </p:txBody>
      </p:sp>
      <p:cxnSp>
        <p:nvCxnSpPr>
          <p:cNvPr id="11" name="Straight Arrow Connector 10"/>
          <p:cNvCxnSpPr/>
          <p:nvPr>
            <p:custDataLst>
              <p:tags r:id="rId5"/>
            </p:custDataLst>
          </p:nvPr>
        </p:nvCxnSpPr>
        <p:spPr>
          <a:xfrm>
            <a:off x="3402330" y="1474470"/>
            <a:ext cx="40005" cy="61531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Curved Down Arrow 13"/>
          <p:cNvSpPr/>
          <p:nvPr/>
        </p:nvSpPr>
        <p:spPr>
          <a:xfrm>
            <a:off x="1377950" y="1931035"/>
            <a:ext cx="234315" cy="304800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>
            <p:custDataLst>
              <p:tags r:id="rId6"/>
            </p:custDataLst>
          </p:nvPr>
        </p:nvSpPr>
        <p:spPr>
          <a:xfrm>
            <a:off x="1612265" y="3092450"/>
            <a:ext cx="234315" cy="304800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Down Arrow 15"/>
          <p:cNvSpPr/>
          <p:nvPr>
            <p:custDataLst>
              <p:tags r:id="rId7"/>
            </p:custDataLst>
          </p:nvPr>
        </p:nvSpPr>
        <p:spPr>
          <a:xfrm>
            <a:off x="1739265" y="4309110"/>
            <a:ext cx="234315" cy="304800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Down Arrow 16"/>
          <p:cNvSpPr/>
          <p:nvPr>
            <p:custDataLst>
              <p:tags r:id="rId8"/>
            </p:custDataLst>
          </p:nvPr>
        </p:nvSpPr>
        <p:spPr>
          <a:xfrm>
            <a:off x="2033905" y="5554345"/>
            <a:ext cx="234315" cy="304800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>
            <p:custDataLst>
              <p:tags r:id="rId9"/>
            </p:custDataLst>
          </p:nvPr>
        </p:nvCxnSpPr>
        <p:spPr>
          <a:xfrm>
            <a:off x="3569335" y="2703830"/>
            <a:ext cx="40005" cy="61531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>
            <p:custDataLst>
              <p:tags r:id="rId10"/>
            </p:custDataLst>
          </p:nvPr>
        </p:nvCxnSpPr>
        <p:spPr>
          <a:xfrm>
            <a:off x="3696335" y="3911600"/>
            <a:ext cx="40005" cy="61531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Text Box 21"/>
          <p:cNvSpPr txBox="1"/>
          <p:nvPr>
            <p:custDataLst>
              <p:tags r:id="rId11"/>
            </p:custDataLst>
          </p:nvPr>
        </p:nvSpPr>
        <p:spPr>
          <a:xfrm>
            <a:off x="7722235" y="3092450"/>
            <a:ext cx="406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800"/>
              <a:t>Assuming we want to use pattern lenght 6...</a:t>
            </a:r>
            <a:endParaRPr lang="en-GB" altLang="en-US" sz="2800"/>
          </a:p>
        </p:txBody>
      </p:sp>
      <p:cxnSp>
        <p:nvCxnSpPr>
          <p:cNvPr id="23" name="Straight Arrow Connector 22"/>
          <p:cNvCxnSpPr/>
          <p:nvPr>
            <p:custDataLst>
              <p:tags r:id="rId12"/>
            </p:custDataLst>
          </p:nvPr>
        </p:nvCxnSpPr>
        <p:spPr>
          <a:xfrm>
            <a:off x="3823335" y="5243830"/>
            <a:ext cx="40005" cy="61531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120140" y="86804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100101</a:t>
            </a:r>
            <a:r>
              <a:rPr lang="en-GB" altLang="en-US" sz="2400">
                <a:sym typeface="+mn-ea"/>
              </a:rPr>
              <a:t>011111010000101011101010...</a:t>
            </a:r>
            <a:endParaRPr lang="en-GB" altLang="en-US" sz="2400">
              <a:sym typeface="+mn-ea"/>
            </a:endParaRPr>
          </a:p>
        </p:txBody>
      </p:sp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1209040" y="223583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olidFill>
                  <a:schemeClr val="tx1"/>
                </a:solidFill>
                <a:sym typeface="+mn-ea"/>
              </a:rPr>
              <a:t>1</a:t>
            </a:r>
            <a:r>
              <a:rPr lang="en-GB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001010</a:t>
            </a:r>
            <a:r>
              <a:rPr lang="en-GB" altLang="en-US" sz="2400">
                <a:sym typeface="+mn-ea"/>
              </a:rPr>
              <a:t>11111010000101011101010...</a:t>
            </a:r>
            <a:endParaRPr lang="en-GB" altLang="en-US" sz="2400">
              <a:sym typeface="+mn-ea"/>
            </a:endParaRPr>
          </a:p>
        </p:txBody>
      </p:sp>
      <p:sp>
        <p:nvSpPr>
          <p:cNvPr id="6" name="Text Box 5"/>
          <p:cNvSpPr txBox="1"/>
          <p:nvPr>
            <p:custDataLst>
              <p:tags r:id="rId2"/>
            </p:custDataLst>
          </p:nvPr>
        </p:nvSpPr>
        <p:spPr>
          <a:xfrm>
            <a:off x="1288415" y="33635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olidFill>
                  <a:schemeClr val="tx1"/>
                </a:solidFill>
                <a:sym typeface="+mn-ea"/>
              </a:rPr>
              <a:t>10</a:t>
            </a:r>
            <a:r>
              <a:rPr lang="en-GB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010101</a:t>
            </a:r>
            <a:r>
              <a:rPr lang="en-GB" altLang="en-US" sz="2400">
                <a:sym typeface="+mn-ea"/>
              </a:rPr>
              <a:t>1111010000101011101010...</a:t>
            </a:r>
            <a:endParaRPr lang="en-GB" altLang="en-US" sz="2400">
              <a:sym typeface="+mn-ea"/>
            </a:endParaRPr>
          </a:p>
        </p:txBody>
      </p:sp>
      <p:sp>
        <p:nvSpPr>
          <p:cNvPr id="7" name="Text Box 6"/>
          <p:cNvSpPr txBox="1"/>
          <p:nvPr>
            <p:custDataLst>
              <p:tags r:id="rId3"/>
            </p:custDataLst>
          </p:nvPr>
        </p:nvSpPr>
        <p:spPr>
          <a:xfrm>
            <a:off x="1288415" y="461391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olidFill>
                  <a:schemeClr val="tx1"/>
                </a:solidFill>
                <a:sym typeface="+mn-ea"/>
              </a:rPr>
              <a:t>10</a:t>
            </a:r>
            <a:r>
              <a:rPr lang="en-GB" altLang="en-US" sz="24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sym typeface="+mn-ea"/>
              </a:rPr>
              <a:t>0</a:t>
            </a:r>
            <a:r>
              <a:rPr lang="en-GB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101011</a:t>
            </a:r>
            <a:r>
              <a:rPr lang="en-GB" altLang="en-US" sz="2400">
                <a:sym typeface="+mn-ea"/>
              </a:rPr>
              <a:t>111010000101011101010...</a:t>
            </a:r>
            <a:endParaRPr lang="en-GB" altLang="en-US" sz="2400">
              <a:sym typeface="+mn-ea"/>
            </a:endParaRPr>
          </a:p>
        </p:txBody>
      </p:sp>
      <p:sp>
        <p:nvSpPr>
          <p:cNvPr id="8" name="Text Box 7"/>
          <p:cNvSpPr txBox="1"/>
          <p:nvPr>
            <p:custDataLst>
              <p:tags r:id="rId4"/>
            </p:custDataLst>
          </p:nvPr>
        </p:nvSpPr>
        <p:spPr>
          <a:xfrm>
            <a:off x="1377950" y="585914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olidFill>
                  <a:schemeClr val="tx1"/>
                </a:solidFill>
                <a:sym typeface="+mn-ea"/>
              </a:rPr>
              <a:t>10</a:t>
            </a:r>
            <a:r>
              <a:rPr lang="en-GB" altLang="en-US" sz="2400">
                <a:solidFill>
                  <a:schemeClr val="tx1"/>
                </a:solidFill>
                <a:highlight>
                  <a:srgbClr val="000000">
                    <a:alpha val="0"/>
                  </a:srgbClr>
                </a:highlight>
                <a:sym typeface="+mn-ea"/>
              </a:rPr>
              <a:t>01</a:t>
            </a:r>
            <a:r>
              <a:rPr lang="en-GB" altLang="en-US" sz="240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010111</a:t>
            </a:r>
            <a:r>
              <a:rPr lang="en-GB" altLang="en-US" sz="2400">
                <a:sym typeface="+mn-ea"/>
              </a:rPr>
              <a:t>11010000101011101010...</a:t>
            </a:r>
            <a:endParaRPr lang="en-GB" altLang="en-US" sz="2400">
              <a:sym typeface="+mn-ea"/>
            </a:endParaRPr>
          </a:p>
        </p:txBody>
      </p:sp>
      <p:cxnSp>
        <p:nvCxnSpPr>
          <p:cNvPr id="11" name="Straight Arrow Connector 10"/>
          <p:cNvCxnSpPr/>
          <p:nvPr>
            <p:custDataLst>
              <p:tags r:id="rId5"/>
            </p:custDataLst>
          </p:nvPr>
        </p:nvCxnSpPr>
        <p:spPr>
          <a:xfrm>
            <a:off x="3402330" y="1474470"/>
            <a:ext cx="40005" cy="61531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Curved Down Arrow 13"/>
          <p:cNvSpPr/>
          <p:nvPr/>
        </p:nvSpPr>
        <p:spPr>
          <a:xfrm>
            <a:off x="1377950" y="1931035"/>
            <a:ext cx="234315" cy="304800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urved Down Arrow 14"/>
          <p:cNvSpPr/>
          <p:nvPr>
            <p:custDataLst>
              <p:tags r:id="rId6"/>
            </p:custDataLst>
          </p:nvPr>
        </p:nvSpPr>
        <p:spPr>
          <a:xfrm>
            <a:off x="1612265" y="3092450"/>
            <a:ext cx="234315" cy="304800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Down Arrow 15"/>
          <p:cNvSpPr/>
          <p:nvPr>
            <p:custDataLst>
              <p:tags r:id="rId7"/>
            </p:custDataLst>
          </p:nvPr>
        </p:nvSpPr>
        <p:spPr>
          <a:xfrm>
            <a:off x="1739265" y="4309110"/>
            <a:ext cx="234315" cy="304800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Curved Down Arrow 16"/>
          <p:cNvSpPr/>
          <p:nvPr>
            <p:custDataLst>
              <p:tags r:id="rId8"/>
            </p:custDataLst>
          </p:nvPr>
        </p:nvSpPr>
        <p:spPr>
          <a:xfrm>
            <a:off x="2033905" y="5554345"/>
            <a:ext cx="234315" cy="304800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>
            <p:custDataLst>
              <p:tags r:id="rId9"/>
            </p:custDataLst>
          </p:nvPr>
        </p:nvCxnSpPr>
        <p:spPr>
          <a:xfrm>
            <a:off x="3569335" y="2703830"/>
            <a:ext cx="40005" cy="61531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>
            <p:custDataLst>
              <p:tags r:id="rId10"/>
            </p:custDataLst>
          </p:nvPr>
        </p:nvCxnSpPr>
        <p:spPr>
          <a:xfrm>
            <a:off x="3696335" y="3911600"/>
            <a:ext cx="40005" cy="61531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Text Box 21"/>
          <p:cNvSpPr txBox="1"/>
          <p:nvPr>
            <p:custDataLst>
              <p:tags r:id="rId11"/>
            </p:custDataLst>
          </p:nvPr>
        </p:nvSpPr>
        <p:spPr>
          <a:xfrm>
            <a:off x="7813040" y="302006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800"/>
              <a:t>Weight Recent Data Vector</a:t>
            </a:r>
            <a:endParaRPr lang="en-GB" altLang="en-US" sz="2800"/>
          </a:p>
        </p:txBody>
      </p:sp>
      <p:cxnSp>
        <p:nvCxnSpPr>
          <p:cNvPr id="23" name="Straight Arrow Connector 22"/>
          <p:cNvCxnSpPr/>
          <p:nvPr>
            <p:custDataLst>
              <p:tags r:id="rId12"/>
            </p:custDataLst>
          </p:nvPr>
        </p:nvCxnSpPr>
        <p:spPr>
          <a:xfrm>
            <a:off x="3823335" y="5243830"/>
            <a:ext cx="40005" cy="61531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Text Box 1"/>
          <p:cNvSpPr txBox="1"/>
          <p:nvPr/>
        </p:nvSpPr>
        <p:spPr>
          <a:xfrm>
            <a:off x="1120140" y="34290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ym typeface="+mn-ea"/>
              </a:rPr>
              <a:t>[11111111111222222222233333333...]</a:t>
            </a:r>
            <a:endParaRPr lang="en-GB" altLang="en-US" sz="2400">
              <a:sym typeface="+mn-ea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20775" y="261620"/>
            <a:ext cx="5088890" cy="62293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3" name="Straight Arrow Connector 2"/>
          <p:cNvCxnSpPr/>
          <p:nvPr>
            <p:custDataLst>
              <p:tags r:id="rId13"/>
            </p:custDataLst>
          </p:nvPr>
        </p:nvCxnSpPr>
        <p:spPr>
          <a:xfrm flipH="1" flipV="1">
            <a:off x="6299835" y="818515"/>
            <a:ext cx="2322195" cy="211709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2"/>
          <p:cNvSpPr>
            <a:spLocks noGrp="1"/>
          </p:cNvSpPr>
          <p:nvPr/>
        </p:nvSpPr>
        <p:spPr>
          <a:xfrm>
            <a:off x="3275330" y="2995930"/>
            <a:ext cx="8104505" cy="556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/>
              <a:t>Predicted Return if 111010: 0.96%</a:t>
            </a:r>
            <a:endParaRPr lang="en-GB" alt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Less Overfitted/Better Predictions</a:t>
            </a:r>
            <a:endParaRPr lang="en-GB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Patterns within Patterns</a:t>
            </a:r>
            <a:endParaRPr lang="en-GB" altLang="en-US"/>
          </a:p>
        </p:txBody>
      </p:sp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2780030" y="2253615"/>
            <a:ext cx="7740650" cy="3290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GB" altLang="en-US" sz="2400">
                <a:sym typeface="+mn-ea"/>
              </a:rPr>
              <a:t>  1101011 : 4%  &lt;-------Predicted Return </a:t>
            </a:r>
            <a:endParaRPr lang="en-GB" altLang="en-US" sz="2400">
              <a:sym typeface="+mn-ea"/>
            </a:endParaRPr>
          </a:p>
          <a:p>
            <a:r>
              <a:rPr lang="en-GB" altLang="en-US" sz="2400">
                <a:sym typeface="+mn-ea"/>
              </a:rPr>
              <a:t>    101011 : -1% </a:t>
            </a:r>
            <a:endParaRPr lang="en-GB" altLang="en-US" sz="2400">
              <a:sym typeface="+mn-ea"/>
            </a:endParaRPr>
          </a:p>
          <a:p>
            <a:r>
              <a:rPr lang="en-GB" altLang="en-US" sz="2400">
                <a:sym typeface="+mn-ea"/>
              </a:rPr>
              <a:t>      01011 : 0.2% </a:t>
            </a:r>
            <a:endParaRPr lang="en-GB" altLang="en-US" sz="2400">
              <a:sym typeface="+mn-ea"/>
            </a:endParaRPr>
          </a:p>
          <a:p>
            <a:r>
              <a:rPr lang="en-GB" altLang="en-US" sz="2400">
                <a:sym typeface="+mn-ea"/>
              </a:rPr>
              <a:t>        1011 : -0.6%  </a:t>
            </a:r>
            <a:endParaRPr lang="en-GB" altLang="en-US" sz="2400">
              <a:sym typeface="+mn-ea"/>
            </a:endParaRPr>
          </a:p>
          <a:p>
            <a:r>
              <a:rPr lang="en-GB" altLang="en-US" sz="2400">
                <a:sym typeface="+mn-ea"/>
              </a:rPr>
              <a:t>          011 : </a:t>
            </a:r>
            <a:r>
              <a:rPr lang="en-GB" altLang="en-US" sz="2400">
                <a:sym typeface="+mn-ea"/>
              </a:rPr>
              <a:t>0.3%</a:t>
            </a:r>
            <a:endParaRPr lang="en-GB" altLang="en-US" sz="2400">
              <a:sym typeface="+mn-ea"/>
            </a:endParaRPr>
          </a:p>
          <a:p>
            <a:r>
              <a:rPr lang="en-GB" altLang="en-US" sz="2400">
                <a:sym typeface="+mn-ea"/>
              </a:rPr>
              <a:t>            11 : </a:t>
            </a:r>
            <a:r>
              <a:rPr lang="en-GB" altLang="en-US" sz="2400">
                <a:sym typeface="+mn-ea"/>
              </a:rPr>
              <a:t>0.5% </a:t>
            </a:r>
            <a:endParaRPr lang="en-GB" altLang="en-US" sz="2400">
              <a:sym typeface="+mn-ea"/>
            </a:endParaRPr>
          </a:p>
          <a:p>
            <a:pPr marL="457200" lvl="1" indent="457200"/>
            <a:r>
              <a:rPr lang="en-GB" altLang="en-US" sz="2400">
                <a:sym typeface="+mn-ea"/>
              </a:rPr>
              <a:t> 1 : </a:t>
            </a:r>
            <a:r>
              <a:rPr lang="en-GB" altLang="en-US" sz="2400">
                <a:sym typeface="+mn-ea"/>
              </a:rPr>
              <a:t>0.1% </a:t>
            </a:r>
            <a:endParaRPr lang="en-GB" altLang="en-US" sz="2400">
              <a:sym typeface="+mn-ea"/>
            </a:endParaRPr>
          </a:p>
          <a:p>
            <a:endParaRPr lang="en-GB" altLang="en-US" sz="2400">
              <a:sym typeface="+mn-ea"/>
            </a:endParaRPr>
          </a:p>
          <a:p>
            <a:endParaRPr lang="en-GB" altLang="en-US" sz="24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474720" y="5362575"/>
            <a:ext cx="87166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ym typeface="+mn-ea"/>
              </a:rPr>
              <a:t>11101011 : 0.5%    Predicted Rise </a:t>
            </a:r>
            <a:r>
              <a:rPr lang="en-GB" altLang="en-US" sz="2400">
                <a:sym typeface="+mn-ea"/>
              </a:rPr>
              <a:t>EQUALLY WEIGTHED AVERAGED </a:t>
            </a:r>
            <a:endParaRPr lang="en-GB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935" y="365760"/>
            <a:ext cx="11835765" cy="1325880"/>
          </a:xfrm>
        </p:spPr>
        <p:txBody>
          <a:bodyPr>
            <a:normAutofit/>
          </a:bodyPr>
          <a:p>
            <a:r>
              <a:rPr lang="en-GB" altLang="en-US"/>
              <a:t>Weighted Average - Avoid Overfitting</a:t>
            </a:r>
            <a:endParaRPr lang="en-GB" altLang="en-US"/>
          </a:p>
        </p:txBody>
      </p:sp>
      <p:sp>
        <p:nvSpPr>
          <p:cNvPr id="5" name="Text Box 4"/>
          <p:cNvSpPr txBox="1"/>
          <p:nvPr>
            <p:custDataLst>
              <p:tags r:id="rId1"/>
            </p:custDataLst>
          </p:nvPr>
        </p:nvSpPr>
        <p:spPr>
          <a:xfrm>
            <a:off x="2780030" y="2253615"/>
            <a:ext cx="7740650" cy="3290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GB" altLang="en-US" sz="2400">
                <a:sym typeface="+mn-ea"/>
              </a:rPr>
              <a:t>  1101011 : 4%  </a:t>
            </a:r>
            <a:endParaRPr lang="en-GB" altLang="en-US" sz="2400">
              <a:sym typeface="+mn-ea"/>
            </a:endParaRPr>
          </a:p>
          <a:p>
            <a:r>
              <a:rPr lang="en-GB" altLang="en-US" sz="2400">
                <a:sym typeface="+mn-ea"/>
              </a:rPr>
              <a:t>    101011 : -1% </a:t>
            </a:r>
            <a:endParaRPr lang="en-GB" altLang="en-US" sz="2400">
              <a:sym typeface="+mn-ea"/>
            </a:endParaRPr>
          </a:p>
          <a:p>
            <a:r>
              <a:rPr lang="en-GB" altLang="en-US" sz="2400">
                <a:sym typeface="+mn-ea"/>
              </a:rPr>
              <a:t>      01011 : 0.2% </a:t>
            </a:r>
            <a:endParaRPr lang="en-GB" altLang="en-US" sz="2400">
              <a:sym typeface="+mn-ea"/>
            </a:endParaRPr>
          </a:p>
          <a:p>
            <a:r>
              <a:rPr lang="en-GB" altLang="en-US" sz="2400">
                <a:sym typeface="+mn-ea"/>
              </a:rPr>
              <a:t>        1011 : -0.6% </a:t>
            </a:r>
            <a:endParaRPr lang="en-GB" altLang="en-US" sz="2400">
              <a:sym typeface="+mn-ea"/>
            </a:endParaRPr>
          </a:p>
          <a:p>
            <a:r>
              <a:rPr lang="en-GB" altLang="en-US" sz="2400">
                <a:sym typeface="+mn-ea"/>
              </a:rPr>
              <a:t>          011 : </a:t>
            </a:r>
            <a:r>
              <a:rPr lang="en-GB" altLang="en-US" sz="2400">
                <a:sym typeface="+mn-ea"/>
              </a:rPr>
              <a:t>0.3% </a:t>
            </a:r>
            <a:endParaRPr lang="en-GB" altLang="en-US" sz="2400">
              <a:sym typeface="+mn-ea"/>
            </a:endParaRPr>
          </a:p>
          <a:p>
            <a:r>
              <a:rPr lang="en-GB" altLang="en-US" sz="2400">
                <a:sym typeface="+mn-ea"/>
              </a:rPr>
              <a:t>            11 : </a:t>
            </a:r>
            <a:r>
              <a:rPr lang="en-GB" altLang="en-US" sz="2400">
                <a:sym typeface="+mn-ea"/>
              </a:rPr>
              <a:t>0.5% </a:t>
            </a:r>
            <a:endParaRPr lang="en-GB" altLang="en-US" sz="2400">
              <a:sym typeface="+mn-ea"/>
            </a:endParaRPr>
          </a:p>
          <a:p>
            <a:pPr marL="457200" lvl="1" indent="457200"/>
            <a:r>
              <a:rPr lang="en-GB" altLang="en-US" sz="2400">
                <a:sym typeface="+mn-ea"/>
              </a:rPr>
              <a:t> 1 : </a:t>
            </a:r>
            <a:r>
              <a:rPr lang="en-GB" altLang="en-US" sz="2400">
                <a:sym typeface="+mn-ea"/>
              </a:rPr>
              <a:t>0.1% </a:t>
            </a:r>
            <a:endParaRPr lang="en-GB" altLang="en-US" sz="2400">
              <a:sym typeface="+mn-ea"/>
            </a:endParaRPr>
          </a:p>
          <a:p>
            <a:endParaRPr lang="en-GB" altLang="en-US" sz="2400">
              <a:sym typeface="+mn-ea"/>
            </a:endParaRPr>
          </a:p>
          <a:p>
            <a:endParaRPr lang="en-GB" altLang="en-US" sz="24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474720" y="5362575"/>
            <a:ext cx="8985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 altLang="en-US" sz="2400">
                <a:sym typeface="+mn-ea"/>
              </a:rPr>
              <a:t>11101011 : 0.24%    Predicted Rise </a:t>
            </a:r>
            <a:r>
              <a:rPr lang="en-GB" altLang="en-US" sz="2400">
                <a:highlight>
                  <a:srgbClr val="FFFF00"/>
                </a:highlight>
                <a:sym typeface="+mn-ea"/>
              </a:rPr>
              <a:t>HISTOGRAM WEIGHTED AVERAGE</a:t>
            </a:r>
            <a:endParaRPr lang="en-GB" altLang="en-US" sz="2400">
              <a:highlight>
                <a:srgbClr val="FFFF00"/>
              </a:highlight>
              <a:sym typeface="+mn-ea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762375" y="2808605"/>
            <a:ext cx="3098165" cy="156845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886700" y="32880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 sz="2400"/>
              <a:t>Histogram Weight Average</a:t>
            </a:r>
            <a:endParaRPr lang="en-GB" altLang="en-US" sz="2400"/>
          </a:p>
        </p:txBody>
      </p:sp>
      <p:cxnSp>
        <p:nvCxnSpPr>
          <p:cNvPr id="7" name="Straight Arrow Connector 6"/>
          <p:cNvCxnSpPr/>
          <p:nvPr>
            <p:custDataLst>
              <p:tags r:id="rId4"/>
            </p:custDataLst>
          </p:nvPr>
        </p:nvCxnSpPr>
        <p:spPr>
          <a:xfrm flipH="1" flipV="1">
            <a:off x="6431280" y="3521075"/>
            <a:ext cx="1259840" cy="1206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>
            <p:custDataLst>
              <p:tags r:id="rId5"/>
            </p:custDataLst>
          </p:nvPr>
        </p:nvSpPr>
        <p:spPr>
          <a:xfrm>
            <a:off x="440055" y="1991360"/>
            <a:ext cx="2339975" cy="29616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GB" altLang="en-US" sz="2400">
                <a:sym typeface="+mn-ea"/>
              </a:rPr>
              <a:t>      Sample Size:</a:t>
            </a:r>
            <a:endParaRPr lang="en-GB" altLang="en-US" sz="2400">
              <a:sym typeface="+mn-ea"/>
            </a:endParaRPr>
          </a:p>
          <a:p>
            <a:pPr algn="ctr"/>
            <a:r>
              <a:rPr lang="en-GB" altLang="en-US" sz="2400">
                <a:sym typeface="+mn-ea"/>
              </a:rPr>
              <a:t>20</a:t>
            </a:r>
            <a:endParaRPr lang="en-GB" altLang="en-US" sz="2400">
              <a:sym typeface="+mn-ea"/>
            </a:endParaRPr>
          </a:p>
          <a:p>
            <a:pPr algn="ctr"/>
            <a:r>
              <a:rPr lang="en-GB" altLang="en-US" sz="2400">
                <a:sym typeface="+mn-ea"/>
              </a:rPr>
              <a:t>40</a:t>
            </a:r>
            <a:endParaRPr lang="en-GB" altLang="en-US" sz="2400">
              <a:sym typeface="+mn-ea"/>
            </a:endParaRPr>
          </a:p>
          <a:p>
            <a:pPr algn="ctr"/>
            <a:r>
              <a:rPr lang="en-GB" altLang="en-US" sz="2400">
                <a:sym typeface="+mn-ea"/>
              </a:rPr>
              <a:t>60</a:t>
            </a:r>
            <a:endParaRPr lang="en-GB" altLang="en-US" sz="2400">
              <a:sym typeface="+mn-ea"/>
            </a:endParaRPr>
          </a:p>
          <a:p>
            <a:pPr algn="ctr"/>
            <a:r>
              <a:rPr lang="en-GB" altLang="en-US" sz="2400">
                <a:sym typeface="+mn-ea"/>
              </a:rPr>
              <a:t>100</a:t>
            </a:r>
            <a:endParaRPr lang="en-GB" altLang="en-US" sz="2400">
              <a:sym typeface="+mn-ea"/>
            </a:endParaRPr>
          </a:p>
          <a:p>
            <a:pPr algn="ctr"/>
            <a:r>
              <a:rPr lang="en-GB" altLang="en-US" sz="2400">
                <a:sym typeface="+mn-ea"/>
              </a:rPr>
              <a:t>230</a:t>
            </a:r>
            <a:endParaRPr lang="en-GB" altLang="en-US" sz="2400">
              <a:sym typeface="+mn-ea"/>
            </a:endParaRPr>
          </a:p>
          <a:p>
            <a:pPr algn="ctr"/>
            <a:r>
              <a:rPr lang="en-GB" altLang="en-US" sz="2400">
                <a:sym typeface="+mn-ea"/>
              </a:rPr>
              <a:t>400 </a:t>
            </a:r>
            <a:endParaRPr lang="en-GB" altLang="en-US" sz="2400">
              <a:sym typeface="+mn-ea"/>
            </a:endParaRPr>
          </a:p>
          <a:p>
            <a:pPr algn="ctr"/>
            <a:r>
              <a:rPr lang="en-GB" altLang="en-US" sz="2400">
                <a:sym typeface="+mn-ea"/>
              </a:rPr>
              <a:t>840</a:t>
            </a:r>
            <a:endParaRPr lang="en-GB" altLang="en-US" sz="2400">
              <a:sym typeface="+mn-ea"/>
            </a:endParaRPr>
          </a:p>
          <a:p>
            <a:r>
              <a:rPr lang="en-GB" altLang="en-US" sz="2400">
                <a:sym typeface="+mn-ea"/>
              </a:rPr>
              <a:t>    </a:t>
            </a:r>
            <a:endParaRPr lang="en-GB" altLang="en-US" sz="2400">
              <a:sym typeface="+mn-ea"/>
            </a:endParaRPr>
          </a:p>
          <a:p>
            <a:endParaRPr lang="en-GB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Pattern Length Stop Condition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Patterns are Trained on a Rolling Window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11425"/>
            <a:ext cx="10515600" cy="1659890"/>
          </a:xfrm>
        </p:spPr>
        <p:txBody>
          <a:bodyPr>
            <a:normAutofit/>
          </a:bodyPr>
          <a:p>
            <a:r>
              <a:rPr lang="en-GB" altLang="en-US"/>
              <a:t>Good Lookback = Prevents Overfitting</a:t>
            </a:r>
            <a:endParaRPr lang="en-GB" altLang="en-US"/>
          </a:p>
          <a:p>
            <a:endParaRPr lang="en-GB" altLang="en-US"/>
          </a:p>
          <a:p>
            <a:r>
              <a:rPr lang="en-GB" altLang="en-US"/>
              <a:t>300 Days</a:t>
            </a:r>
            <a:endParaRPr lang="en-GB" altLang="en-US"/>
          </a:p>
          <a:p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9990" y="2607945"/>
            <a:ext cx="10515600" cy="1325563"/>
          </a:xfrm>
        </p:spPr>
        <p:txBody>
          <a:bodyPr/>
          <a:p>
            <a:r>
              <a:rPr lang="en-GB" altLang="en-US"/>
              <a:t>Alright Lets Start Trading Then</a:t>
            </a:r>
            <a:endParaRPr lang="en-GB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Trade Conditions</a:t>
            </a:r>
            <a:endParaRPr lang="en-GB" altLang="en-US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838200" y="2303780"/>
            <a:ext cx="10515600" cy="3145155"/>
          </a:xfrm>
        </p:spPr>
        <p:txBody>
          <a:bodyPr/>
          <a:p>
            <a:pPr marL="0" indent="0" algn="l">
              <a:buNone/>
            </a:pPr>
            <a:r>
              <a:rPr lang="en-GB" altLang="en-US"/>
              <a:t>When? :  </a:t>
            </a:r>
            <a:r>
              <a:rPr lang="en-GB" altLang="en-US">
                <a:solidFill>
                  <a:srgbClr val="00B050"/>
                </a:solidFill>
              </a:rPr>
              <a:t>Enter </a:t>
            </a:r>
            <a:r>
              <a:rPr lang="en-GB" altLang="en-US"/>
              <a:t>End of Day (Actually 1 hr prior due to latency)</a:t>
            </a:r>
            <a:endParaRPr lang="en-GB" altLang="en-US"/>
          </a:p>
          <a:p>
            <a:pPr marL="0" indent="0" algn="l">
              <a:buNone/>
            </a:pPr>
            <a:r>
              <a:rPr lang="en-GB" altLang="en-US"/>
              <a:t>                 </a:t>
            </a:r>
            <a:r>
              <a:rPr lang="en-GB" altLang="en-US">
                <a:solidFill>
                  <a:srgbClr val="FF0000"/>
                </a:solidFill>
              </a:rPr>
              <a:t>Exit</a:t>
            </a:r>
            <a:r>
              <a:rPr lang="en-GB" altLang="en-US"/>
              <a:t> </a:t>
            </a:r>
            <a:r>
              <a:rPr lang="en-GB" altLang="en-US">
                <a:highlight>
                  <a:srgbClr val="FFFF00"/>
                </a:highlight>
              </a:rPr>
              <a:t>Next </a:t>
            </a:r>
            <a:r>
              <a:rPr lang="en-GB" altLang="en-US"/>
              <a:t>End of Day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  <a:p>
            <a:pPr marL="0" indent="0">
              <a:buNone/>
            </a:pPr>
            <a:endParaRPr lang="en-GB" altLang="en-US"/>
          </a:p>
          <a:p>
            <a:pPr marL="0" indent="0" algn="ctr">
              <a:buNone/>
            </a:pPr>
            <a:r>
              <a:rPr lang="en-GB" altLang="en-US">
                <a:solidFill>
                  <a:srgbClr val="00B050"/>
                </a:solidFill>
              </a:rPr>
              <a:t>Long </a:t>
            </a:r>
            <a:r>
              <a:rPr lang="en-GB" altLang="en-US"/>
              <a:t>: Predicted Return  &gt;  Threshold</a:t>
            </a:r>
            <a:endParaRPr lang="en-GB" altLang="en-US"/>
          </a:p>
          <a:p>
            <a:pPr marL="0" indent="0" algn="ctr">
              <a:buNone/>
            </a:pPr>
            <a:r>
              <a:rPr lang="en-GB" altLang="en-US">
                <a:solidFill>
                  <a:srgbClr val="FF0000"/>
                </a:solidFill>
                <a:sym typeface="+mn-ea"/>
              </a:rPr>
              <a:t>Short</a:t>
            </a:r>
            <a:r>
              <a:rPr lang="en-GB" altLang="en-US">
                <a:sym typeface="+mn-ea"/>
              </a:rPr>
              <a:t>: Predicted Return  &lt;  -Threshold</a:t>
            </a:r>
            <a:endParaRPr lang="en-GB" altLang="en-US"/>
          </a:p>
          <a:p>
            <a:pPr marL="0" indent="0">
              <a:buNone/>
            </a:pPr>
            <a:endParaRPr lang="en-GB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Trade Threshold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634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GB" altLang="en-US"/>
              <a:t>Static Trade Threshold = Dumb (We have to guess a good one)</a:t>
            </a:r>
            <a:endParaRPr lang="en-GB" altLang="en-US"/>
          </a:p>
          <a:p>
            <a:endParaRPr lang="en-GB" altLang="en-US"/>
          </a:p>
          <a:p>
            <a:pPr marL="0" indent="0">
              <a:buNone/>
            </a:pPr>
            <a:endParaRPr lang="en-GB" altLang="en-US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GB" altLang="en-US">
                <a:highlight>
                  <a:srgbClr val="FFFF00"/>
                </a:highlight>
              </a:rPr>
              <a:t>Dynamic Trade Threshold</a:t>
            </a:r>
            <a:r>
              <a:rPr lang="en-GB" altLang="en-US"/>
              <a:t> = Automated, Adapting</a:t>
            </a:r>
            <a:endParaRPr lang="en-GB" altLang="en-US"/>
          </a:p>
        </p:txBody>
      </p:sp>
      <p:pic>
        <p:nvPicPr>
          <p:cNvPr id="5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8348980" y="3627755"/>
            <a:ext cx="1141095" cy="90995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2"/>
          <a:stretch>
            <a:fillRect/>
          </a:stretch>
        </p:blipFill>
        <p:spPr>
          <a:xfrm>
            <a:off x="9820910" y="1957705"/>
            <a:ext cx="1833880" cy="11918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GB" altLang="en-US"/>
              <a:t>Trade Threshold = Percentile of Dynamic Predictions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0805" y="6228080"/>
            <a:ext cx="8187055" cy="629920"/>
          </a:xfrm>
        </p:spPr>
        <p:txBody>
          <a:bodyPr/>
          <a:p>
            <a:pPr marL="0" indent="0">
              <a:buNone/>
            </a:pPr>
            <a:r>
              <a:rPr lang="en-GB" altLang="en-US"/>
              <a:t>ALL Predictions at Max Pattern Length</a:t>
            </a:r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1"/>
          <a:srcRect l="12408"/>
          <a:stretch>
            <a:fillRect/>
          </a:stretch>
        </p:blipFill>
        <p:spPr>
          <a:xfrm>
            <a:off x="0" y="1923415"/>
            <a:ext cx="7889240" cy="4288790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V="1">
            <a:off x="5299075" y="3446145"/>
            <a:ext cx="3709670" cy="295656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Content Placeholder 2"/>
          <p:cNvSpPr>
            <a:spLocks noGrp="1"/>
          </p:cNvSpPr>
          <p:nvPr/>
        </p:nvSpPr>
        <p:spPr>
          <a:xfrm>
            <a:off x="8146415" y="2312670"/>
            <a:ext cx="8187055" cy="1708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altLang="en-US">
                <a:solidFill>
                  <a:srgbClr val="FF0000"/>
                </a:solidFill>
              </a:rPr>
              <a:t>90th Percentile</a:t>
            </a:r>
            <a:r>
              <a:rPr lang="en-GB" altLang="en-US"/>
              <a:t> of </a:t>
            </a:r>
            <a:endParaRPr lang="en-GB" altLang="en-US"/>
          </a:p>
          <a:p>
            <a:pPr marL="0" indent="0">
              <a:buNone/>
            </a:pPr>
            <a:r>
              <a:rPr lang="en-GB" altLang="en-US"/>
              <a:t>ALL PREDICTIONS</a:t>
            </a:r>
            <a:endParaRPr lang="en-GB" altLang="en-US"/>
          </a:p>
        </p:txBody>
      </p:sp>
      <p:sp>
        <p:nvSpPr>
          <p:cNvPr id="7" name="Oval 6"/>
          <p:cNvSpPr/>
          <p:nvPr/>
        </p:nvSpPr>
        <p:spPr>
          <a:xfrm>
            <a:off x="7963535" y="1838960"/>
            <a:ext cx="3107055" cy="203581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300"/>
          <p:cNvPicPr>
            <a:picLocks noChangeAspect="1"/>
          </p:cNvPicPr>
          <p:nvPr/>
        </p:nvPicPr>
        <p:blipFill>
          <a:blip r:embed="rId1"/>
          <a:srcRect r="45121"/>
          <a:stretch>
            <a:fillRect/>
          </a:stretch>
        </p:blipFill>
        <p:spPr>
          <a:xfrm>
            <a:off x="1121410" y="85725"/>
            <a:ext cx="10410190" cy="67748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980" y="2715895"/>
            <a:ext cx="10515600" cy="1325563"/>
          </a:xfrm>
        </p:spPr>
        <p:txBody>
          <a:bodyPr/>
          <a:p>
            <a:r>
              <a:rPr lang="en-GB" altLang="en-US"/>
              <a:t>Now For Some Performance Evaluation</a:t>
            </a:r>
            <a:endParaRPr lang="en-GB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600"/>
          <p:cNvPicPr>
            <a:picLocks noChangeAspect="1"/>
          </p:cNvPicPr>
          <p:nvPr/>
        </p:nvPicPr>
        <p:blipFill>
          <a:blip r:embed="rId1"/>
          <a:srcRect r="50969"/>
          <a:stretch>
            <a:fillRect/>
          </a:stretch>
        </p:blipFill>
        <p:spPr>
          <a:xfrm>
            <a:off x="1300480" y="0"/>
            <a:ext cx="9402445" cy="68491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900"/>
          <p:cNvPicPr>
            <a:picLocks noChangeAspect="1"/>
          </p:cNvPicPr>
          <p:nvPr/>
        </p:nvPicPr>
        <p:blipFill>
          <a:blip r:embed="rId1"/>
          <a:srcRect r="47339"/>
          <a:stretch>
            <a:fillRect/>
          </a:stretch>
        </p:blipFill>
        <p:spPr>
          <a:xfrm>
            <a:off x="1135380" y="0"/>
            <a:ext cx="101111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1500"/>
          <p:cNvPicPr>
            <a:picLocks noChangeAspect="1"/>
          </p:cNvPicPr>
          <p:nvPr/>
        </p:nvPicPr>
        <p:blipFill>
          <a:blip r:embed="rId1"/>
          <a:srcRect r="50385"/>
          <a:stretch>
            <a:fillRect/>
          </a:stretch>
        </p:blipFill>
        <p:spPr>
          <a:xfrm>
            <a:off x="1235710" y="0"/>
            <a:ext cx="9556115" cy="68789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2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3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4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5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6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7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8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9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10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11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12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13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14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15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16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17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18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19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20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21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22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23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24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25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26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29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30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31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32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33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34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35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36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37.xml><?xml version="1.0" encoding="utf-8"?>
<p:tagLst xmlns:p="http://schemas.openxmlformats.org/presentationml/2006/main">
  <p:tag name="KSO_WM_DIAGRAM_VIRTUALLY_FRAME" val="{&quot;height&quot;:415.8,&quot;left&quot;:552.2,&quot;top&quot;:123.75,&quot;width&quot;:320.9}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2457</Words>
  <Application>WPS Presentation</Application>
  <PresentationFormat>Widescreen</PresentationFormat>
  <Paragraphs>234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Predict the next key of the Piano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Patterns within Patterns</vt:lpstr>
      <vt:lpstr>Patterns within Patterns</vt:lpstr>
      <vt:lpstr>Patterns within Patterns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Christy Bruce</dc:creator>
  <cp:lastModifiedBy>Christy</cp:lastModifiedBy>
  <cp:revision>90</cp:revision>
  <dcterms:created xsi:type="dcterms:W3CDTF">2025-07-23T00:59:00Z</dcterms:created>
  <dcterms:modified xsi:type="dcterms:W3CDTF">2026-02-10T13:02:30Z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1033-12.2.0.23196</vt:lpwstr>
  </property>
</Properties>
</file>